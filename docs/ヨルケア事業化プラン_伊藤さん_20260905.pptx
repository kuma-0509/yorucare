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時間をもらったお礼から入る。結論を先に置く。ゴールは細部を固めることではなく、試運転の合意ひとつ。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結論から言う。今日のゴールはこの1点だけで、それ以上は求めないと明言する。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支援の空白を、曜日と時間帯という見える形にする。ここを埋めることがヨルケアの役割。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当事者と支援者、別の立場の声が同じ穴を指していることを見せる。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消える口頭の順序を、1本の線として目に残す。今日の話は最初の1マスだけ、と繰り返す。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ここは伊藤さんにも一緒に体験してほしい部分だと伝える。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稼げないから意味がない、ではなく、実績づくりという役割がある、と説明する。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誠実な見せ方にしている理由を言う。言い切らないほうが企業に信用される。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お願いを『今から』と『後から』に分けて、時間差を見せる。役割分担は今日決め切るものではない、と添える。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負担への不安に先回りして答える。試運転はもっと小さいことを強調する。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決め切ってはいけないと思っている、という言い方をする。売上が立つ前に数字を詰めると、かえってまとまらない。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リスクを先に自分から出す。隠さないことで、後の相談がしやすくなる。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2枚目と同じ言葉で閉じる。ここで話を止めて、伊藤さんの反応を待つ。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配布後に一人で読み返したときのために、出典と免責を必ず添える。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640080" y="1371600"/>
            <a:ext cx="10911535" cy="310896"/>
          </a:xfrm>
          <a:prstGeom prst="rect">
            <a:avLst/>
          </a:prstGeom>
          <a:noFill/>
          <a:ln/>
        </p:spPr>
        <p:txBody>
          <a:bodyPr wrap="square" lIns="0" tIns="0" rIns="0" bIns="0" rtlCol="0" anchor="ctr"/>
          <a:lstStyle/>
          <a:p>
            <a:pPr indent="0" marL="0">
              <a:buNone/>
            </a:pPr>
            <a:r>
              <a:rPr lang="en-US" sz="1300" spc="100" kern="0" dirty="0">
                <a:solidFill>
                  <a:srgbClr val="FCD34D"/>
                </a:solidFill>
                <a:latin typeface="Meiryo" pitchFamily="34" charset="0"/>
                <a:ea typeface="Meiryo" pitchFamily="34" charset="-122"/>
                <a:cs typeface="Meiryo" pitchFamily="34" charset="-120"/>
              </a:rPr>
              <a:t>2026年9月5日   株式会社mimococo 伊藤さま</a:t>
            </a:r>
            <a:endParaRPr lang="en-US" sz="1300" dirty="0"/>
          </a:p>
        </p:txBody>
      </p:sp>
      <p:sp>
        <p:nvSpPr>
          <p:cNvPr id="3" name="Text 1"/>
          <p:cNvSpPr txBox="1"/>
          <p:nvPr/>
        </p:nvSpPr>
        <p:spPr>
          <a:xfrm>
            <a:off x="640080" y="1828800"/>
            <a:ext cx="10911535" cy="1737360"/>
          </a:xfrm>
          <a:prstGeom prst="rect">
            <a:avLst/>
          </a:prstGeom>
          <a:noFill/>
          <a:ln/>
        </p:spPr>
        <p:txBody>
          <a:bodyPr wrap="square" lIns="0" tIns="0" rIns="0" bIns="0" rtlCol="0" anchor="ctr"/>
          <a:lstStyle/>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ヨルケア事業化プラン</a:t>
            </a:r>
            <a:endParaRPr lang="en-US" sz="4000" dirty="0"/>
          </a:p>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ご相談・ご承認のお願い</a:t>
            </a:r>
            <a:endParaRPr lang="en-US" sz="4000" dirty="0"/>
          </a:p>
        </p:txBody>
      </p:sp>
      <p:sp>
        <p:nvSpPr>
          <p:cNvPr id="4" name="Text 2"/>
          <p:cNvSpPr txBox="1"/>
          <p:nvPr/>
        </p:nvSpPr>
        <p:spPr>
          <a:xfrm>
            <a:off x="640080" y="3703320"/>
            <a:ext cx="10911535" cy="365760"/>
          </a:xfrm>
          <a:prstGeom prst="rect">
            <a:avLst/>
          </a:prstGeom>
          <a:noFill/>
          <a:ln/>
        </p:spPr>
        <p:txBody>
          <a:bodyPr wrap="square" lIns="0" tIns="0" rIns="0" bIns="0" rtlCol="0" anchor="ctr"/>
          <a:lstStyle/>
          <a:p>
            <a:pPr indent="0" marL="0">
              <a:buNone/>
            </a:pPr>
            <a:r>
              <a:rPr lang="en-US" sz="1600" dirty="0">
                <a:solidFill>
                  <a:srgbClr val="B9C0DC"/>
                </a:solidFill>
                <a:latin typeface="Meiryo" pitchFamily="34" charset="0"/>
                <a:ea typeface="Meiryo" pitchFamily="34" charset="-122"/>
                <a:cs typeface="Meiryo" pitchFamily="34" charset="-120"/>
              </a:rPr>
              <a:t>復職後の夜間・休日オンラインケアを、企業に届く形へ</a:t>
            </a:r>
            <a:endParaRPr lang="en-US" sz="1600" dirty="0"/>
          </a:p>
        </p:txBody>
      </p:sp>
      <p:sp>
        <p:nvSpPr>
          <p:cNvPr id="5" name="Shape 3"/>
          <p:cNvSpPr/>
          <p:nvPr/>
        </p:nvSpPr>
        <p:spPr>
          <a:xfrm>
            <a:off x="640080" y="4526280"/>
            <a:ext cx="4572000" cy="566928"/>
          </a:xfrm>
          <a:prstGeom prst="roundRect">
            <a:avLst>
              <a:gd name="adj" fmla="val 16129"/>
            </a:avLst>
          </a:prstGeom>
          <a:solidFill>
            <a:srgbClr val="17204A"/>
          </a:solidFill>
          <a:ln w="12700">
            <a:solidFill>
              <a:srgbClr val="3A4478"/>
            </a:solidFill>
            <a:prstDash val="solid"/>
          </a:ln>
        </p:spPr>
      </p:sp>
      <p:sp>
        <p:nvSpPr>
          <p:cNvPr id="6" name="Text 4"/>
          <p:cNvSpPr txBox="1"/>
          <p:nvPr/>
        </p:nvSpPr>
        <p:spPr>
          <a:xfrm>
            <a:off x="896112" y="4626864"/>
            <a:ext cx="4114800" cy="365760"/>
          </a:xfrm>
          <a:prstGeom prst="rect">
            <a:avLst/>
          </a:prstGeom>
          <a:noFill/>
          <a:ln/>
        </p:spPr>
        <p:txBody>
          <a:bodyPr wrap="square" lIns="0" tIns="0" rIns="0" bIns="0" rtlCol="0" anchor="ctr"/>
          <a:lstStyle/>
          <a:p>
            <a:pPr indent="0" marL="0">
              <a:buNone/>
            </a:pPr>
            <a:r>
              <a:rPr lang="en-US" sz="1500" b="1" dirty="0">
                <a:solidFill>
                  <a:srgbClr val="FCD34D"/>
                </a:solidFill>
                <a:latin typeface="Meiryo" pitchFamily="34" charset="0"/>
                <a:ea typeface="Meiryo" pitchFamily="34" charset="-122"/>
                <a:cs typeface="Meiryo" pitchFamily="34" charset="-120"/>
              </a:rPr>
              <a:t>今日のお願いは、1つだけです</a:t>
            </a:r>
            <a:endParaRPr lang="en-US" sz="1500" dirty="0"/>
          </a:p>
        </p:txBody>
      </p:sp>
      <p:sp>
        <p:nvSpPr>
          <p:cNvPr id="7" name="Text 5"/>
          <p:cNvSpPr txBox="1"/>
          <p:nvPr/>
        </p:nvSpPr>
        <p:spPr>
          <a:xfrm>
            <a:off x="640080" y="5943600"/>
            <a:ext cx="10911535" cy="310896"/>
          </a:xfrm>
          <a:prstGeom prst="rect">
            <a:avLst/>
          </a:prstGeom>
          <a:noFill/>
          <a:ln/>
        </p:spPr>
        <p:txBody>
          <a:bodyPr wrap="square" lIns="0" tIns="0" rIns="0" bIns="0" rtlCol="0" anchor="ctr"/>
          <a:lstStyle/>
          <a:p>
            <a:pPr indent="0" marL="0">
              <a:buNone/>
            </a:pPr>
            <a:r>
              <a:rPr lang="en-US" sz="1000" dirty="0">
                <a:solidFill>
                  <a:srgbClr val="8A93B8"/>
                </a:solidFill>
                <a:latin typeface="Meiryo" pitchFamily="34" charset="0"/>
                <a:ea typeface="Meiryo" pitchFamily="34" charset="-122"/>
                <a:cs typeface="Meiryo" pitchFamily="34" charset="-120"/>
              </a:rPr>
              <a:t>所要 15〜20分（質疑込み）／参照：docs/business-plan-return-to-work.md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FCD34D"/>
                </a:solidFill>
                <a:latin typeface="Meiryo" pitchFamily="34" charset="0"/>
                <a:ea typeface="Meiryo" pitchFamily="34" charset="-122"/>
                <a:cs typeface="Meiryo" pitchFamily="34" charset="-120"/>
              </a:rPr>
              <a:t>Q.  今日お願いしたいことは、何か？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FFFFFF"/>
                </a:solidFill>
                <a:latin typeface="Meiryo" pitchFamily="34" charset="0"/>
                <a:ea typeface="Meiryo" pitchFamily="34" charset="-122"/>
                <a:cs typeface="Meiryo" pitchFamily="34" charset="-120"/>
              </a:rPr>
              <a:t>まずは1か月、試運転を一緒に</a:t>
            </a:r>
            <a:endParaRPr lang="en-US" sz="3000" dirty="0"/>
          </a:p>
        </p:txBody>
      </p:sp>
      <p:sp>
        <p:nvSpPr>
          <p:cNvPr id="4" name="Shape 2"/>
          <p:cNvSpPr/>
          <p:nvPr/>
        </p:nvSpPr>
        <p:spPr>
          <a:xfrm>
            <a:off x="640080" y="1965960"/>
            <a:ext cx="10911535" cy="1234440"/>
          </a:xfrm>
          <a:prstGeom prst="roundRect">
            <a:avLst>
              <a:gd name="adj" fmla="val 7407"/>
            </a:avLst>
          </a:prstGeom>
          <a:solidFill>
            <a:srgbClr val="17204A"/>
          </a:solidFill>
          <a:ln w="25400">
            <a:solidFill>
              <a:srgbClr val="FCD34D"/>
            </a:solidFill>
            <a:prstDash val="solid"/>
          </a:ln>
        </p:spPr>
      </p:sp>
      <p:sp>
        <p:nvSpPr>
          <p:cNvPr id="5" name="Text 3"/>
          <p:cNvSpPr txBox="1"/>
          <p:nvPr/>
        </p:nvSpPr>
        <p:spPr>
          <a:xfrm>
            <a:off x="960120" y="2331720"/>
            <a:ext cx="10271455" cy="548640"/>
          </a:xfrm>
          <a:prstGeom prst="rect">
            <a:avLst/>
          </a:prstGeom>
          <a:noFill/>
          <a:ln/>
        </p:spPr>
        <p:txBody>
          <a:bodyPr wrap="square" lIns="0" tIns="0" rIns="0" bIns="0" rtlCol="0" anchor="ctr"/>
          <a:lstStyle/>
          <a:p>
            <a:pPr indent="0" marL="0">
              <a:buNone/>
            </a:pPr>
            <a:r>
              <a:rPr lang="en-US" sz="2100" b="1" dirty="0">
                <a:solidFill>
                  <a:srgbClr val="FFFFFF"/>
                </a:solidFill>
                <a:latin typeface="Meiryo" pitchFamily="34" charset="0"/>
                <a:ea typeface="Meiryo" pitchFamily="34" charset="-122"/>
                <a:cs typeface="Meiryo" pitchFamily="34" charset="-120"/>
              </a:rPr>
              <a:t>最少3名・1か月。ここだけ、お返事をいただけたら十分です。</a:t>
            </a:r>
            <a:endParaRPr lang="en-US" sz="2100" dirty="0"/>
          </a:p>
        </p:txBody>
      </p:sp>
      <p:sp>
        <p:nvSpPr>
          <p:cNvPr id="6" name="Text 4"/>
          <p:cNvSpPr txBox="1"/>
          <p:nvPr/>
        </p:nvSpPr>
        <p:spPr>
          <a:xfrm>
            <a:off x="640080" y="3520440"/>
            <a:ext cx="3657600" cy="292608"/>
          </a:xfrm>
          <a:prstGeom prst="rect">
            <a:avLst/>
          </a:prstGeom>
          <a:noFill/>
          <a:ln/>
        </p:spPr>
        <p:txBody>
          <a:bodyPr wrap="square" lIns="0" tIns="0" rIns="0" bIns="0" rtlCol="0" anchor="ctr"/>
          <a:lstStyle/>
          <a:p>
            <a:pPr indent="0" marL="0">
              <a:buNone/>
            </a:pPr>
            <a:r>
              <a:rPr lang="en-US" sz="1300" b="1" dirty="0">
                <a:solidFill>
                  <a:srgbClr val="8A93B8"/>
                </a:solidFill>
                <a:latin typeface="Meiryo" pitchFamily="34" charset="0"/>
                <a:ea typeface="Meiryo" pitchFamily="34" charset="-122"/>
                <a:cs typeface="Meiryo" pitchFamily="34" charset="-120"/>
              </a:rPr>
              <a:t>今日、決めないこと</a:t>
            </a:r>
            <a:endParaRPr lang="en-US" sz="1300" dirty="0"/>
          </a:p>
        </p:txBody>
      </p:sp>
      <p:sp>
        <p:nvSpPr>
          <p:cNvPr id="7" name="Shape 5"/>
          <p:cNvSpPr/>
          <p:nvPr/>
        </p:nvSpPr>
        <p:spPr>
          <a:xfrm>
            <a:off x="640080" y="3913632"/>
            <a:ext cx="3429000" cy="713232"/>
          </a:xfrm>
          <a:prstGeom prst="roundRect">
            <a:avLst>
              <a:gd name="adj" fmla="val 10256"/>
            </a:avLst>
          </a:prstGeom>
          <a:solidFill>
            <a:srgbClr val="141B3C"/>
          </a:solidFill>
          <a:ln w="12700">
            <a:solidFill>
              <a:srgbClr val="343D6E"/>
            </a:solidFill>
            <a:prstDash val="solid"/>
          </a:ln>
        </p:spPr>
      </p:sp>
      <p:sp>
        <p:nvSpPr>
          <p:cNvPr id="8" name="Text 6"/>
          <p:cNvSpPr txBox="1"/>
          <p:nvPr/>
        </p:nvSpPr>
        <p:spPr>
          <a:xfrm>
            <a:off x="841248" y="4069080"/>
            <a:ext cx="3063240" cy="457200"/>
          </a:xfrm>
          <a:prstGeom prst="rect">
            <a:avLst/>
          </a:prstGeom>
          <a:noFill/>
          <a:ln/>
        </p:spPr>
        <p:txBody>
          <a:bodyPr wrap="square" lIns="0" tIns="0" rIns="0" bIns="0" rtlCol="0" anchor="ctr"/>
          <a:lstStyle/>
          <a:p>
            <a:pPr indent="0" marL="0">
              <a:lnSpc>
                <a:spcPts val="1700"/>
              </a:lnSpc>
              <a:buNone/>
            </a:pPr>
            <a:r>
              <a:rPr lang="en-US" sz="1200" dirty="0">
                <a:solidFill>
                  <a:srgbClr val="C3C9E4"/>
                </a:solidFill>
                <a:latin typeface="Meiryo" pitchFamily="34" charset="0"/>
                <a:ea typeface="Meiryo" pitchFamily="34" charset="-122"/>
                <a:cs typeface="Meiryo" pitchFamily="34" charset="-120"/>
              </a:rPr>
              <a:t>モニター期間中の報酬</a:t>
            </a:r>
            <a:endParaRPr lang="en-US" sz="1200" dirty="0"/>
          </a:p>
        </p:txBody>
      </p:sp>
      <p:sp>
        <p:nvSpPr>
          <p:cNvPr id="9" name="Shape 7"/>
          <p:cNvSpPr/>
          <p:nvPr/>
        </p:nvSpPr>
        <p:spPr>
          <a:xfrm>
            <a:off x="4343400" y="3913632"/>
            <a:ext cx="3429000" cy="713232"/>
          </a:xfrm>
          <a:prstGeom prst="roundRect">
            <a:avLst>
              <a:gd name="adj" fmla="val 10256"/>
            </a:avLst>
          </a:prstGeom>
          <a:solidFill>
            <a:srgbClr val="141B3C"/>
          </a:solidFill>
          <a:ln w="12700">
            <a:solidFill>
              <a:srgbClr val="343D6E"/>
            </a:solidFill>
            <a:prstDash val="solid"/>
          </a:ln>
        </p:spPr>
      </p:sp>
      <p:sp>
        <p:nvSpPr>
          <p:cNvPr id="10" name="Text 8"/>
          <p:cNvSpPr txBox="1"/>
          <p:nvPr/>
        </p:nvSpPr>
        <p:spPr>
          <a:xfrm>
            <a:off x="4544568" y="4069080"/>
            <a:ext cx="3063240" cy="457200"/>
          </a:xfrm>
          <a:prstGeom prst="rect">
            <a:avLst/>
          </a:prstGeom>
          <a:noFill/>
          <a:ln/>
        </p:spPr>
        <p:txBody>
          <a:bodyPr wrap="square" lIns="0" tIns="0" rIns="0" bIns="0" rtlCol="0" anchor="ctr"/>
          <a:lstStyle/>
          <a:p>
            <a:pPr indent="0" marL="0">
              <a:lnSpc>
                <a:spcPts val="1700"/>
              </a:lnSpc>
              <a:buNone/>
            </a:pPr>
            <a:r>
              <a:rPr lang="en-US" sz="1200" dirty="0">
                <a:solidFill>
                  <a:srgbClr val="C3C9E4"/>
                </a:solidFill>
                <a:latin typeface="Meiryo" pitchFamily="34" charset="0"/>
                <a:ea typeface="Meiryo" pitchFamily="34" charset="-122"/>
                <a:cs typeface="Meiryo" pitchFamily="34" charset="-120"/>
              </a:rPr>
              <a:t>有料化・企業受注後の収益配分</a:t>
            </a:r>
            <a:endParaRPr lang="en-US" sz="1200" dirty="0"/>
          </a:p>
        </p:txBody>
      </p:sp>
      <p:sp>
        <p:nvSpPr>
          <p:cNvPr id="11" name="Shape 9"/>
          <p:cNvSpPr/>
          <p:nvPr/>
        </p:nvSpPr>
        <p:spPr>
          <a:xfrm>
            <a:off x="8046720" y="3913632"/>
            <a:ext cx="3429000" cy="713232"/>
          </a:xfrm>
          <a:prstGeom prst="roundRect">
            <a:avLst>
              <a:gd name="adj" fmla="val 10256"/>
            </a:avLst>
          </a:prstGeom>
          <a:solidFill>
            <a:srgbClr val="141B3C"/>
          </a:solidFill>
          <a:ln w="12700">
            <a:solidFill>
              <a:srgbClr val="343D6E"/>
            </a:solidFill>
            <a:prstDash val="solid"/>
          </a:ln>
        </p:spPr>
      </p:sp>
      <p:sp>
        <p:nvSpPr>
          <p:cNvPr id="12" name="Text 10"/>
          <p:cNvSpPr txBox="1"/>
          <p:nvPr/>
        </p:nvSpPr>
        <p:spPr>
          <a:xfrm>
            <a:off x="8247888" y="4069080"/>
            <a:ext cx="3063240" cy="457200"/>
          </a:xfrm>
          <a:prstGeom prst="rect">
            <a:avLst/>
          </a:prstGeom>
          <a:noFill/>
          <a:ln/>
        </p:spPr>
        <p:txBody>
          <a:bodyPr wrap="square" lIns="0" tIns="0" rIns="0" bIns="0" rtlCol="0" anchor="ctr"/>
          <a:lstStyle/>
          <a:p>
            <a:pPr indent="0" marL="0">
              <a:lnSpc>
                <a:spcPts val="1700"/>
              </a:lnSpc>
              <a:buNone/>
            </a:pPr>
            <a:r>
              <a:rPr lang="en-US" sz="1200" dirty="0">
                <a:solidFill>
                  <a:srgbClr val="C3C9E4"/>
                </a:solidFill>
                <a:latin typeface="Meiryo" pitchFamily="34" charset="0"/>
                <a:ea typeface="Meiryo" pitchFamily="34" charset="-122"/>
                <a:cs typeface="Meiryo" pitchFamily="34" charset="-120"/>
              </a:rPr>
              <a:t>役割分担と稼働の細部（全12項目）</a:t>
            </a:r>
            <a:endParaRPr lang="en-US" sz="1200" dirty="0"/>
          </a:p>
        </p:txBody>
      </p:sp>
      <p:sp>
        <p:nvSpPr>
          <p:cNvPr id="13" name="Text 11"/>
          <p:cNvSpPr txBox="1"/>
          <p:nvPr/>
        </p:nvSpPr>
        <p:spPr>
          <a:xfrm>
            <a:off x="640080" y="4937760"/>
            <a:ext cx="10911535" cy="457200"/>
          </a:xfrm>
          <a:prstGeom prst="rect">
            <a:avLst/>
          </a:prstGeom>
          <a:noFill/>
          <a:ln/>
        </p:spPr>
        <p:txBody>
          <a:bodyPr wrap="square" lIns="0" tIns="0" rIns="0" bIns="0" rtlCol="0" anchor="ctr"/>
          <a:lstStyle/>
          <a:p>
            <a:pPr indent="0" marL="0">
              <a:lnSpc>
                <a:spcPts val="1700"/>
              </a:lnSpc>
              <a:buNone/>
            </a:pPr>
            <a:r>
              <a:rPr lang="en-US" sz="1100" dirty="0">
                <a:solidFill>
                  <a:srgbClr val="8A93B8"/>
                </a:solidFill>
                <a:latin typeface="Meiryo" pitchFamily="34" charset="0"/>
                <a:ea typeface="Meiryo" pitchFamily="34" charset="-122"/>
                <a:cs typeface="Meiryo" pitchFamily="34" charset="-120"/>
              </a:rPr>
              <a:t>まだ売り上げが立っていない段階で数字を詰めると、かえって話がまとまりにくい。必要なタイミングで、そのつどご相談させてください。</a:t>
            </a:r>
            <a:endParaRPr lang="en-US" sz="110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支援が薄いのは、どこか？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支援が途切れるのは、平日の夜と土日祝</a:t>
            </a:r>
            <a:endParaRPr lang="en-US" sz="3000" dirty="0"/>
          </a:p>
        </p:txBody>
      </p:sp>
      <p:sp>
        <p:nvSpPr>
          <p:cNvPr id="4" name="Text 2"/>
          <p:cNvSpPr txBox="1"/>
          <p:nvPr/>
        </p:nvSpPr>
        <p:spPr>
          <a:xfrm>
            <a:off x="1965960"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月</a:t>
            </a:r>
            <a:endParaRPr lang="en-US" sz="1200" dirty="0"/>
          </a:p>
        </p:txBody>
      </p:sp>
      <p:sp>
        <p:nvSpPr>
          <p:cNvPr id="5" name="Text 3"/>
          <p:cNvSpPr txBox="1"/>
          <p:nvPr/>
        </p:nvSpPr>
        <p:spPr>
          <a:xfrm>
            <a:off x="3335339"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火</a:t>
            </a:r>
            <a:endParaRPr lang="en-US" sz="1200" dirty="0"/>
          </a:p>
        </p:txBody>
      </p:sp>
      <p:sp>
        <p:nvSpPr>
          <p:cNvPr id="6" name="Text 4"/>
          <p:cNvSpPr txBox="1"/>
          <p:nvPr/>
        </p:nvSpPr>
        <p:spPr>
          <a:xfrm>
            <a:off x="4704719"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水</a:t>
            </a:r>
            <a:endParaRPr lang="en-US" sz="1200" dirty="0"/>
          </a:p>
        </p:txBody>
      </p:sp>
      <p:sp>
        <p:nvSpPr>
          <p:cNvPr id="7" name="Text 5"/>
          <p:cNvSpPr txBox="1"/>
          <p:nvPr/>
        </p:nvSpPr>
        <p:spPr>
          <a:xfrm>
            <a:off x="6074098"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木</a:t>
            </a:r>
            <a:endParaRPr lang="en-US" sz="1200" dirty="0"/>
          </a:p>
        </p:txBody>
      </p:sp>
      <p:sp>
        <p:nvSpPr>
          <p:cNvPr id="8" name="Text 6"/>
          <p:cNvSpPr txBox="1"/>
          <p:nvPr/>
        </p:nvSpPr>
        <p:spPr>
          <a:xfrm>
            <a:off x="7443477"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金</a:t>
            </a:r>
            <a:endParaRPr lang="en-US" sz="1200" dirty="0"/>
          </a:p>
        </p:txBody>
      </p:sp>
      <p:sp>
        <p:nvSpPr>
          <p:cNvPr id="9" name="Text 7"/>
          <p:cNvSpPr txBox="1"/>
          <p:nvPr/>
        </p:nvSpPr>
        <p:spPr>
          <a:xfrm>
            <a:off x="8812857"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土</a:t>
            </a:r>
            <a:endParaRPr lang="en-US" sz="1200" dirty="0"/>
          </a:p>
        </p:txBody>
      </p:sp>
      <p:sp>
        <p:nvSpPr>
          <p:cNvPr id="10" name="Text 8"/>
          <p:cNvSpPr txBox="1"/>
          <p:nvPr/>
        </p:nvSpPr>
        <p:spPr>
          <a:xfrm>
            <a:off x="10182236" y="1938528"/>
            <a:ext cx="1259651" cy="274320"/>
          </a:xfrm>
          <a:prstGeom prst="rect">
            <a:avLst/>
          </a:prstGeom>
          <a:noFill/>
          <a:ln/>
        </p:spPr>
        <p:txBody>
          <a:bodyPr wrap="square" lIns="0" tIns="0" rIns="0" bIns="0" rtlCol="0" anchor="ctr"/>
          <a:lstStyle/>
          <a:p>
            <a:pPr algn="ctr" indent="0" marL="0">
              <a:buNone/>
            </a:pPr>
            <a:r>
              <a:rPr lang="en-US" sz="1200" b="1" dirty="0">
                <a:solidFill>
                  <a:srgbClr val="5A6382"/>
                </a:solidFill>
                <a:latin typeface="Meiryo" pitchFamily="34" charset="0"/>
                <a:ea typeface="Meiryo" pitchFamily="34" charset="-122"/>
                <a:cs typeface="Meiryo" pitchFamily="34" charset="-120"/>
              </a:rPr>
              <a:t>日</a:t>
            </a:r>
            <a:endParaRPr lang="en-US" sz="1200" dirty="0"/>
          </a:p>
        </p:txBody>
      </p:sp>
      <p:sp>
        <p:nvSpPr>
          <p:cNvPr id="11" name="Text 9"/>
          <p:cNvSpPr txBox="1"/>
          <p:nvPr/>
        </p:nvSpPr>
        <p:spPr>
          <a:xfrm>
            <a:off x="640080" y="2331720"/>
            <a:ext cx="1188720" cy="640080"/>
          </a:xfrm>
          <a:prstGeom prst="rect">
            <a:avLst/>
          </a:prstGeom>
          <a:noFill/>
          <a:ln/>
        </p:spPr>
        <p:txBody>
          <a:bodyPr wrap="square" lIns="0" tIns="0" rIns="0" bIns="0" rtlCol="0" anchor="ctr"/>
          <a:lstStyle/>
          <a:p>
            <a:pPr indent="0" marL="0">
              <a:lnSpc>
                <a:spcPts val="1600"/>
              </a:lnSpc>
              <a:buNone/>
            </a:pPr>
            <a:r>
              <a:rPr lang="en-US" sz="1100" b="1" dirty="0">
                <a:solidFill>
                  <a:srgbClr val="1A2148"/>
                </a:solidFill>
                <a:latin typeface="Meiryo" pitchFamily="34" charset="0"/>
                <a:ea typeface="Meiryo" pitchFamily="34" charset="-122"/>
                <a:cs typeface="Meiryo" pitchFamily="34" charset="-120"/>
              </a:rPr>
              <a:t>日中</a:t>
            </a:r>
            <a:endParaRPr lang="en-US" sz="1100" dirty="0"/>
          </a:p>
          <a:p>
            <a:pPr indent="0" marL="0">
              <a:lnSpc>
                <a:spcPts val="1600"/>
              </a:lnSpc>
              <a:buNone/>
            </a:pPr>
            <a:r>
              <a:rPr lang="en-US" sz="1100" b="1" dirty="0">
                <a:solidFill>
                  <a:srgbClr val="1A2148"/>
                </a:solidFill>
                <a:latin typeface="Meiryo" pitchFamily="34" charset="0"/>
                <a:ea typeface="Meiryo" pitchFamily="34" charset="-122"/>
                <a:cs typeface="Meiryo" pitchFamily="34" charset="-120"/>
              </a:rPr>
              <a:t>（通勤・勤務）</a:t>
            </a:r>
            <a:endParaRPr lang="en-US" sz="1100" dirty="0"/>
          </a:p>
        </p:txBody>
      </p:sp>
      <p:sp>
        <p:nvSpPr>
          <p:cNvPr id="12" name="Text 10"/>
          <p:cNvSpPr txBox="1"/>
          <p:nvPr/>
        </p:nvSpPr>
        <p:spPr>
          <a:xfrm>
            <a:off x="640080" y="3246120"/>
            <a:ext cx="1234440" cy="640080"/>
          </a:xfrm>
          <a:prstGeom prst="rect">
            <a:avLst/>
          </a:prstGeom>
          <a:noFill/>
          <a:ln/>
        </p:spPr>
        <p:txBody>
          <a:bodyPr wrap="square" lIns="0" tIns="0" rIns="0" bIns="0" rtlCol="0" anchor="ctr"/>
          <a:lstStyle/>
          <a:p>
            <a:pPr indent="0" marL="0">
              <a:lnSpc>
                <a:spcPts val="1600"/>
              </a:lnSpc>
              <a:buNone/>
            </a:pPr>
            <a:r>
              <a:rPr lang="en-US" sz="1100" b="1" dirty="0">
                <a:solidFill>
                  <a:srgbClr val="1A2148"/>
                </a:solidFill>
                <a:latin typeface="Meiryo" pitchFamily="34" charset="0"/>
                <a:ea typeface="Meiryo" pitchFamily="34" charset="-122"/>
                <a:cs typeface="Meiryo" pitchFamily="34" charset="-120"/>
              </a:rPr>
              <a:t>夜間・休日</a:t>
            </a:r>
            <a:endParaRPr lang="en-US" sz="1100" dirty="0"/>
          </a:p>
          <a:p>
            <a:pPr indent="0" marL="0">
              <a:lnSpc>
                <a:spcPts val="1600"/>
              </a:lnSpc>
              <a:buNone/>
            </a:pPr>
            <a:r>
              <a:rPr lang="en-US" sz="1100" b="1" dirty="0">
                <a:solidFill>
                  <a:srgbClr val="1A2148"/>
                </a:solidFill>
                <a:latin typeface="Meiryo" pitchFamily="34" charset="0"/>
                <a:ea typeface="Meiryo" pitchFamily="34" charset="-122"/>
                <a:cs typeface="Meiryo" pitchFamily="34" charset="-120"/>
              </a:rPr>
              <a:t>（帰宅後／土日祝）</a:t>
            </a:r>
            <a:endParaRPr lang="en-US" sz="1100" dirty="0"/>
          </a:p>
        </p:txBody>
      </p:sp>
      <p:sp>
        <p:nvSpPr>
          <p:cNvPr id="13" name="Shape 11"/>
          <p:cNvSpPr/>
          <p:nvPr/>
        </p:nvSpPr>
        <p:spPr>
          <a:xfrm>
            <a:off x="1965960" y="2286000"/>
            <a:ext cx="1259651" cy="749808"/>
          </a:xfrm>
          <a:prstGeom prst="roundRect">
            <a:avLst>
              <a:gd name="adj" fmla="val 7317"/>
            </a:avLst>
          </a:prstGeom>
          <a:solidFill>
            <a:srgbClr val="4C56B8"/>
          </a:solidFill>
          <a:ln w="12700">
            <a:solidFill>
              <a:srgbClr val="4C56B8"/>
            </a:solidFill>
            <a:prstDash val="solid"/>
          </a:ln>
        </p:spPr>
      </p:sp>
      <p:sp>
        <p:nvSpPr>
          <p:cNvPr id="14" name="Text 12"/>
          <p:cNvSpPr txBox="1"/>
          <p:nvPr/>
        </p:nvSpPr>
        <p:spPr>
          <a:xfrm>
            <a:off x="1965960" y="2514600"/>
            <a:ext cx="125965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支援あり</a:t>
            </a:r>
            <a:endParaRPr lang="en-US" sz="1100" dirty="0"/>
          </a:p>
        </p:txBody>
      </p:sp>
      <p:sp>
        <p:nvSpPr>
          <p:cNvPr id="15" name="Shape 13"/>
          <p:cNvSpPr/>
          <p:nvPr/>
        </p:nvSpPr>
        <p:spPr>
          <a:xfrm>
            <a:off x="1965960" y="3200400"/>
            <a:ext cx="1259651" cy="749808"/>
          </a:xfrm>
          <a:prstGeom prst="roundRect">
            <a:avLst>
              <a:gd name="adj" fmla="val 7317"/>
            </a:avLst>
          </a:prstGeom>
          <a:solidFill>
            <a:srgbClr val="C8CDDF"/>
          </a:solidFill>
          <a:ln w="12700">
            <a:solidFill>
              <a:srgbClr val="C8CDDF"/>
            </a:solidFill>
            <a:prstDash val="solid"/>
          </a:ln>
        </p:spPr>
      </p:sp>
      <p:sp>
        <p:nvSpPr>
          <p:cNvPr id="16" name="Text 14"/>
          <p:cNvSpPr txBox="1"/>
          <p:nvPr/>
        </p:nvSpPr>
        <p:spPr>
          <a:xfrm>
            <a:off x="1965960"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17" name="Shape 15"/>
          <p:cNvSpPr/>
          <p:nvPr/>
        </p:nvSpPr>
        <p:spPr>
          <a:xfrm>
            <a:off x="3335339" y="2286000"/>
            <a:ext cx="1259651" cy="749808"/>
          </a:xfrm>
          <a:prstGeom prst="roundRect">
            <a:avLst>
              <a:gd name="adj" fmla="val 7317"/>
            </a:avLst>
          </a:prstGeom>
          <a:solidFill>
            <a:srgbClr val="4C56B8"/>
          </a:solidFill>
          <a:ln w="12700">
            <a:solidFill>
              <a:srgbClr val="4C56B8"/>
            </a:solidFill>
            <a:prstDash val="solid"/>
          </a:ln>
        </p:spPr>
      </p:sp>
      <p:sp>
        <p:nvSpPr>
          <p:cNvPr id="18" name="Text 16"/>
          <p:cNvSpPr txBox="1"/>
          <p:nvPr/>
        </p:nvSpPr>
        <p:spPr>
          <a:xfrm>
            <a:off x="3335339" y="2514600"/>
            <a:ext cx="125965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支援あり</a:t>
            </a:r>
            <a:endParaRPr lang="en-US" sz="1100" dirty="0"/>
          </a:p>
        </p:txBody>
      </p:sp>
      <p:sp>
        <p:nvSpPr>
          <p:cNvPr id="19" name="Shape 17"/>
          <p:cNvSpPr/>
          <p:nvPr/>
        </p:nvSpPr>
        <p:spPr>
          <a:xfrm>
            <a:off x="3335339" y="3200400"/>
            <a:ext cx="1259651" cy="749808"/>
          </a:xfrm>
          <a:prstGeom prst="roundRect">
            <a:avLst>
              <a:gd name="adj" fmla="val 7317"/>
            </a:avLst>
          </a:prstGeom>
          <a:solidFill>
            <a:srgbClr val="C8CDDF"/>
          </a:solidFill>
          <a:ln w="12700">
            <a:solidFill>
              <a:srgbClr val="C8CDDF"/>
            </a:solidFill>
            <a:prstDash val="solid"/>
          </a:ln>
        </p:spPr>
      </p:sp>
      <p:sp>
        <p:nvSpPr>
          <p:cNvPr id="20" name="Text 18"/>
          <p:cNvSpPr txBox="1"/>
          <p:nvPr/>
        </p:nvSpPr>
        <p:spPr>
          <a:xfrm>
            <a:off x="3335339"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21" name="Shape 19"/>
          <p:cNvSpPr/>
          <p:nvPr/>
        </p:nvSpPr>
        <p:spPr>
          <a:xfrm>
            <a:off x="4704719" y="2286000"/>
            <a:ext cx="1259651" cy="749808"/>
          </a:xfrm>
          <a:prstGeom prst="roundRect">
            <a:avLst>
              <a:gd name="adj" fmla="val 7317"/>
            </a:avLst>
          </a:prstGeom>
          <a:solidFill>
            <a:srgbClr val="4C56B8"/>
          </a:solidFill>
          <a:ln w="12700">
            <a:solidFill>
              <a:srgbClr val="4C56B8"/>
            </a:solidFill>
            <a:prstDash val="solid"/>
          </a:ln>
        </p:spPr>
      </p:sp>
      <p:sp>
        <p:nvSpPr>
          <p:cNvPr id="22" name="Text 20"/>
          <p:cNvSpPr txBox="1"/>
          <p:nvPr/>
        </p:nvSpPr>
        <p:spPr>
          <a:xfrm>
            <a:off x="4704719" y="2514600"/>
            <a:ext cx="125965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支援あり</a:t>
            </a:r>
            <a:endParaRPr lang="en-US" sz="1100" dirty="0"/>
          </a:p>
        </p:txBody>
      </p:sp>
      <p:sp>
        <p:nvSpPr>
          <p:cNvPr id="23" name="Shape 21"/>
          <p:cNvSpPr/>
          <p:nvPr/>
        </p:nvSpPr>
        <p:spPr>
          <a:xfrm>
            <a:off x="4704719" y="3200400"/>
            <a:ext cx="1259651" cy="749808"/>
          </a:xfrm>
          <a:prstGeom prst="roundRect">
            <a:avLst>
              <a:gd name="adj" fmla="val 7317"/>
            </a:avLst>
          </a:prstGeom>
          <a:solidFill>
            <a:srgbClr val="C8CDDF"/>
          </a:solidFill>
          <a:ln w="12700">
            <a:solidFill>
              <a:srgbClr val="C8CDDF"/>
            </a:solidFill>
            <a:prstDash val="solid"/>
          </a:ln>
        </p:spPr>
      </p:sp>
      <p:sp>
        <p:nvSpPr>
          <p:cNvPr id="24" name="Text 22"/>
          <p:cNvSpPr txBox="1"/>
          <p:nvPr/>
        </p:nvSpPr>
        <p:spPr>
          <a:xfrm>
            <a:off x="4704719"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25" name="Shape 23"/>
          <p:cNvSpPr/>
          <p:nvPr/>
        </p:nvSpPr>
        <p:spPr>
          <a:xfrm>
            <a:off x="6074098" y="2286000"/>
            <a:ext cx="1259651" cy="749808"/>
          </a:xfrm>
          <a:prstGeom prst="roundRect">
            <a:avLst>
              <a:gd name="adj" fmla="val 7317"/>
            </a:avLst>
          </a:prstGeom>
          <a:solidFill>
            <a:srgbClr val="4C56B8"/>
          </a:solidFill>
          <a:ln w="12700">
            <a:solidFill>
              <a:srgbClr val="4C56B8"/>
            </a:solidFill>
            <a:prstDash val="solid"/>
          </a:ln>
        </p:spPr>
      </p:sp>
      <p:sp>
        <p:nvSpPr>
          <p:cNvPr id="26" name="Text 24"/>
          <p:cNvSpPr txBox="1"/>
          <p:nvPr/>
        </p:nvSpPr>
        <p:spPr>
          <a:xfrm>
            <a:off x="6074098" y="2514600"/>
            <a:ext cx="125965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支援あり</a:t>
            </a:r>
            <a:endParaRPr lang="en-US" sz="1100" dirty="0"/>
          </a:p>
        </p:txBody>
      </p:sp>
      <p:sp>
        <p:nvSpPr>
          <p:cNvPr id="27" name="Shape 25"/>
          <p:cNvSpPr/>
          <p:nvPr/>
        </p:nvSpPr>
        <p:spPr>
          <a:xfrm>
            <a:off x="6074098" y="3200400"/>
            <a:ext cx="1259651" cy="749808"/>
          </a:xfrm>
          <a:prstGeom prst="roundRect">
            <a:avLst>
              <a:gd name="adj" fmla="val 7317"/>
            </a:avLst>
          </a:prstGeom>
          <a:solidFill>
            <a:srgbClr val="C8CDDF"/>
          </a:solidFill>
          <a:ln w="12700">
            <a:solidFill>
              <a:srgbClr val="C8CDDF"/>
            </a:solidFill>
            <a:prstDash val="solid"/>
          </a:ln>
        </p:spPr>
      </p:sp>
      <p:sp>
        <p:nvSpPr>
          <p:cNvPr id="28" name="Text 26"/>
          <p:cNvSpPr txBox="1"/>
          <p:nvPr/>
        </p:nvSpPr>
        <p:spPr>
          <a:xfrm>
            <a:off x="6074098"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29" name="Shape 27"/>
          <p:cNvSpPr/>
          <p:nvPr/>
        </p:nvSpPr>
        <p:spPr>
          <a:xfrm>
            <a:off x="7443477" y="2286000"/>
            <a:ext cx="1259651" cy="749808"/>
          </a:xfrm>
          <a:prstGeom prst="roundRect">
            <a:avLst>
              <a:gd name="adj" fmla="val 7317"/>
            </a:avLst>
          </a:prstGeom>
          <a:solidFill>
            <a:srgbClr val="4C56B8"/>
          </a:solidFill>
          <a:ln w="12700">
            <a:solidFill>
              <a:srgbClr val="4C56B8"/>
            </a:solidFill>
            <a:prstDash val="solid"/>
          </a:ln>
        </p:spPr>
      </p:sp>
      <p:sp>
        <p:nvSpPr>
          <p:cNvPr id="30" name="Text 28"/>
          <p:cNvSpPr txBox="1"/>
          <p:nvPr/>
        </p:nvSpPr>
        <p:spPr>
          <a:xfrm>
            <a:off x="7443477" y="2514600"/>
            <a:ext cx="1259651"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支援あり</a:t>
            </a:r>
            <a:endParaRPr lang="en-US" sz="1100" dirty="0"/>
          </a:p>
        </p:txBody>
      </p:sp>
      <p:sp>
        <p:nvSpPr>
          <p:cNvPr id="31" name="Shape 29"/>
          <p:cNvSpPr/>
          <p:nvPr/>
        </p:nvSpPr>
        <p:spPr>
          <a:xfrm>
            <a:off x="7443477" y="3200400"/>
            <a:ext cx="1259651" cy="749808"/>
          </a:xfrm>
          <a:prstGeom prst="roundRect">
            <a:avLst>
              <a:gd name="adj" fmla="val 7317"/>
            </a:avLst>
          </a:prstGeom>
          <a:solidFill>
            <a:srgbClr val="C8CDDF"/>
          </a:solidFill>
          <a:ln w="12700">
            <a:solidFill>
              <a:srgbClr val="C8CDDF"/>
            </a:solidFill>
            <a:prstDash val="solid"/>
          </a:ln>
        </p:spPr>
      </p:sp>
      <p:sp>
        <p:nvSpPr>
          <p:cNvPr id="32" name="Text 30"/>
          <p:cNvSpPr txBox="1"/>
          <p:nvPr/>
        </p:nvSpPr>
        <p:spPr>
          <a:xfrm>
            <a:off x="7443477"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33" name="Shape 31"/>
          <p:cNvSpPr/>
          <p:nvPr/>
        </p:nvSpPr>
        <p:spPr>
          <a:xfrm>
            <a:off x="8812857" y="2286000"/>
            <a:ext cx="1259651" cy="749808"/>
          </a:xfrm>
          <a:prstGeom prst="roundRect">
            <a:avLst>
              <a:gd name="adj" fmla="val 7317"/>
            </a:avLst>
          </a:prstGeom>
          <a:solidFill>
            <a:srgbClr val="C8CDDF"/>
          </a:solidFill>
          <a:ln w="12700">
            <a:solidFill>
              <a:srgbClr val="C8CDDF"/>
            </a:solidFill>
            <a:prstDash val="solid"/>
          </a:ln>
        </p:spPr>
      </p:sp>
      <p:sp>
        <p:nvSpPr>
          <p:cNvPr id="34" name="Text 32"/>
          <p:cNvSpPr txBox="1"/>
          <p:nvPr/>
        </p:nvSpPr>
        <p:spPr>
          <a:xfrm>
            <a:off x="8812857" y="25146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35" name="Shape 33"/>
          <p:cNvSpPr/>
          <p:nvPr/>
        </p:nvSpPr>
        <p:spPr>
          <a:xfrm>
            <a:off x="8812857" y="3200400"/>
            <a:ext cx="1259651" cy="749808"/>
          </a:xfrm>
          <a:prstGeom prst="roundRect">
            <a:avLst>
              <a:gd name="adj" fmla="val 7317"/>
            </a:avLst>
          </a:prstGeom>
          <a:solidFill>
            <a:srgbClr val="C8CDDF"/>
          </a:solidFill>
          <a:ln w="12700">
            <a:solidFill>
              <a:srgbClr val="C8CDDF"/>
            </a:solidFill>
            <a:prstDash val="solid"/>
          </a:ln>
        </p:spPr>
      </p:sp>
      <p:sp>
        <p:nvSpPr>
          <p:cNvPr id="36" name="Text 34"/>
          <p:cNvSpPr txBox="1"/>
          <p:nvPr/>
        </p:nvSpPr>
        <p:spPr>
          <a:xfrm>
            <a:off x="8812857"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37" name="Shape 35"/>
          <p:cNvSpPr/>
          <p:nvPr/>
        </p:nvSpPr>
        <p:spPr>
          <a:xfrm>
            <a:off x="10182236" y="2286000"/>
            <a:ext cx="1259651" cy="749808"/>
          </a:xfrm>
          <a:prstGeom prst="roundRect">
            <a:avLst>
              <a:gd name="adj" fmla="val 7317"/>
            </a:avLst>
          </a:prstGeom>
          <a:solidFill>
            <a:srgbClr val="C8CDDF"/>
          </a:solidFill>
          <a:ln w="12700">
            <a:solidFill>
              <a:srgbClr val="C8CDDF"/>
            </a:solidFill>
            <a:prstDash val="solid"/>
          </a:ln>
        </p:spPr>
      </p:sp>
      <p:sp>
        <p:nvSpPr>
          <p:cNvPr id="38" name="Text 36"/>
          <p:cNvSpPr txBox="1"/>
          <p:nvPr/>
        </p:nvSpPr>
        <p:spPr>
          <a:xfrm>
            <a:off x="10182236" y="25146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39" name="Shape 37"/>
          <p:cNvSpPr/>
          <p:nvPr/>
        </p:nvSpPr>
        <p:spPr>
          <a:xfrm>
            <a:off x="10182236" y="3200400"/>
            <a:ext cx="1259651" cy="749808"/>
          </a:xfrm>
          <a:prstGeom prst="roundRect">
            <a:avLst>
              <a:gd name="adj" fmla="val 7317"/>
            </a:avLst>
          </a:prstGeom>
          <a:solidFill>
            <a:srgbClr val="C8CDDF"/>
          </a:solidFill>
          <a:ln w="12700">
            <a:solidFill>
              <a:srgbClr val="C8CDDF"/>
            </a:solidFill>
            <a:prstDash val="solid"/>
          </a:ln>
        </p:spPr>
      </p:sp>
      <p:sp>
        <p:nvSpPr>
          <p:cNvPr id="40" name="Text 38"/>
          <p:cNvSpPr txBox="1"/>
          <p:nvPr/>
        </p:nvSpPr>
        <p:spPr>
          <a:xfrm>
            <a:off x="10182236" y="3429000"/>
            <a:ext cx="1259651" cy="292608"/>
          </a:xfrm>
          <a:prstGeom prst="rect">
            <a:avLst/>
          </a:prstGeom>
          <a:noFill/>
          <a:ln/>
        </p:spPr>
        <p:txBody>
          <a:bodyPr wrap="square" lIns="0" tIns="0" rIns="0" bIns="0" rtlCol="0" anchor="ctr"/>
          <a:lstStyle/>
          <a:p>
            <a:pPr algn="ctr" indent="0" marL="0">
              <a:buNone/>
            </a:pPr>
            <a:r>
              <a:rPr lang="en-US" sz="1100" b="1" dirty="0">
                <a:solidFill>
                  <a:srgbClr val="5A6382"/>
                </a:solidFill>
                <a:latin typeface="Meiryo" pitchFamily="34" charset="0"/>
                <a:ea typeface="Meiryo" pitchFamily="34" charset="-122"/>
                <a:cs typeface="Meiryo" pitchFamily="34" charset="-120"/>
              </a:rPr>
              <a:t>空白</a:t>
            </a:r>
            <a:endParaRPr lang="en-US" sz="1100" dirty="0"/>
          </a:p>
        </p:txBody>
      </p:sp>
      <p:sp>
        <p:nvSpPr>
          <p:cNvPr id="41" name="Text 39"/>
          <p:cNvSpPr txBox="1"/>
          <p:nvPr/>
        </p:nvSpPr>
        <p:spPr>
          <a:xfrm>
            <a:off x="640080" y="4251960"/>
            <a:ext cx="10911535" cy="365760"/>
          </a:xfrm>
          <a:prstGeom prst="rect">
            <a:avLst/>
          </a:prstGeom>
          <a:noFill/>
          <a:ln/>
        </p:spPr>
        <p:txBody>
          <a:bodyPr wrap="square" lIns="0" tIns="0" rIns="0" bIns="0" rtlCol="0" anchor="ctr"/>
          <a:lstStyle/>
          <a:p>
            <a:pPr indent="0" marL="0">
              <a:buNone/>
            </a:pPr>
            <a:r>
              <a:rPr lang="en-US" sz="1500" b="1" dirty="0">
                <a:solidFill>
                  <a:srgbClr val="1A2148"/>
                </a:solidFill>
                <a:latin typeface="Meiryo" pitchFamily="34" charset="0"/>
                <a:ea typeface="Meiryo" pitchFamily="34" charset="-122"/>
                <a:cs typeface="Meiryo" pitchFamily="34" charset="-120"/>
              </a:rPr>
              <a:t>この帯の、グレーの部分がヨルケアの持ち場です。</a:t>
            </a:r>
            <a:endParaRPr lang="en-US" sz="1500" dirty="0"/>
          </a:p>
        </p:txBody>
      </p:sp>
      <p:sp>
        <p:nvSpPr>
          <p:cNvPr id="42" name="Text 40"/>
          <p:cNvSpPr txBox="1"/>
          <p:nvPr/>
        </p:nvSpPr>
        <p:spPr>
          <a:xfrm>
            <a:off x="640080" y="4709160"/>
            <a:ext cx="10911535" cy="822960"/>
          </a:xfrm>
          <a:prstGeom prst="rect">
            <a:avLst/>
          </a:prstGeom>
          <a:noFill/>
          <a:ln/>
        </p:spPr>
        <p:txBody>
          <a:bodyPr wrap="square" lIns="0" tIns="0" rIns="0" bIns="0" rtlCol="0" anchor="t"/>
          <a:lstStyle/>
          <a:p>
            <a:pPr indent="0" marL="0">
              <a:lnSpc>
                <a:spcPts val="2200"/>
              </a:lnSpc>
              <a:buNone/>
            </a:pPr>
            <a:r>
              <a:rPr lang="en-US" sz="1300" dirty="0">
                <a:solidFill>
                  <a:srgbClr val="1A2148"/>
                </a:solidFill>
                <a:latin typeface="Meiryo" pitchFamily="34" charset="0"/>
                <a:ea typeface="Meiryo" pitchFamily="34" charset="-122"/>
                <a:cs typeface="Meiryo" pitchFamily="34" charset="-120"/>
              </a:rPr>
              <a:t>通勤や業務そのものは、緊張感で乗り切れることが多い。落ちるのは、帰宅後の夜間と土日祝でした。</a:t>
            </a:r>
            <a:endParaRPr lang="en-US" sz="1300" dirty="0"/>
          </a:p>
        </p:txBody>
      </p:sp>
      <p:sp>
        <p:nvSpPr>
          <p:cNvPr id="43" name="Text 41"/>
          <p:cNvSpPr txBox="1"/>
          <p:nvPr/>
        </p:nvSpPr>
        <p:spPr>
          <a:xfrm>
            <a:off x="640080" y="5742432"/>
            <a:ext cx="10911535" cy="310896"/>
          </a:xfrm>
          <a:prstGeom prst="rect">
            <a:avLst/>
          </a:prstGeom>
          <a:noFill/>
          <a:ln/>
        </p:spPr>
        <p:txBody>
          <a:bodyPr wrap="square" lIns="0" tIns="0" rIns="0" bIns="0" rtlCol="0" anchor="ctr"/>
          <a:lstStyle/>
          <a:p>
            <a:pPr indent="0" marL="0">
              <a:lnSpc>
                <a:spcPts val="1600"/>
              </a:lnSpc>
              <a:buNone/>
            </a:pPr>
            <a:r>
              <a:rPr lang="en-US" sz="1100" dirty="0">
                <a:solidFill>
                  <a:srgbClr val="5A6382"/>
                </a:solidFill>
                <a:latin typeface="Meiryo" pitchFamily="34" charset="0"/>
                <a:ea typeface="Meiryo" pitchFamily="34" charset="-122"/>
                <a:cs typeface="Meiryo" pitchFamily="34" charset="-120"/>
              </a:rPr>
              <a:t>※これまでのヒアリングから見えた傾向を図にしたものです（実測データではありません）。</a:t>
            </a:r>
            <a:endParaRPr lang="en-US" sz="1100" dirty="0"/>
          </a:p>
        </p:txBody>
      </p:sp>
      <p:sp>
        <p:nvSpPr>
          <p:cNvPr id="44" name="Text 4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そこで何が起きているのか？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「週末で回復しても月曜が怖い」が、再休職の入口になる</a:t>
            </a:r>
            <a:endParaRPr lang="en-US" sz="3000" dirty="0"/>
          </a:p>
        </p:txBody>
      </p:sp>
      <p:sp>
        <p:nvSpPr>
          <p:cNvPr id="4" name="Shape 2"/>
          <p:cNvSpPr/>
          <p:nvPr/>
        </p:nvSpPr>
        <p:spPr>
          <a:xfrm>
            <a:off x="640080" y="2011680"/>
            <a:ext cx="5250028" cy="2651760"/>
          </a:xfrm>
          <a:prstGeom prst="roundRect">
            <a:avLst>
              <a:gd name="adj" fmla="val 2759"/>
            </a:avLst>
          </a:prstGeom>
          <a:solidFill>
            <a:srgbClr val="F2F4FB"/>
          </a:solidFill>
          <a:ln w="12700">
            <a:solidFill>
              <a:srgbClr val="D9DDEE"/>
            </a:solidFill>
            <a:prstDash val="solid"/>
          </a:ln>
        </p:spPr>
      </p:sp>
      <p:sp>
        <p:nvSpPr>
          <p:cNvPr id="5" name="Text 3"/>
          <p:cNvSpPr txBox="1"/>
          <p:nvPr/>
        </p:nvSpPr>
        <p:spPr>
          <a:xfrm>
            <a:off x="960120" y="2267712"/>
            <a:ext cx="4609948"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復職された方の声</a:t>
            </a:r>
            <a:endParaRPr lang="en-US" sz="1200" dirty="0"/>
          </a:p>
        </p:txBody>
      </p:sp>
      <p:sp>
        <p:nvSpPr>
          <p:cNvPr id="6" name="Text 4"/>
          <p:cNvSpPr txBox="1"/>
          <p:nvPr/>
        </p:nvSpPr>
        <p:spPr>
          <a:xfrm>
            <a:off x="960120" y="2633472"/>
            <a:ext cx="4609948" cy="685800"/>
          </a:xfrm>
          <a:prstGeom prst="rect">
            <a:avLst/>
          </a:prstGeom>
          <a:noFill/>
          <a:ln/>
        </p:spPr>
        <p:txBody>
          <a:bodyPr wrap="square" lIns="0" tIns="0" rIns="0" bIns="0" rtlCol="0" anchor="t"/>
          <a:lstStyle/>
          <a:p>
            <a:pPr indent="0" marL="0">
              <a:lnSpc>
                <a:spcPts val="2600"/>
              </a:lnSpc>
              <a:buNone/>
            </a:pPr>
            <a:r>
              <a:rPr lang="en-US" sz="1700" b="1" dirty="0">
                <a:solidFill>
                  <a:srgbClr val="1A2148"/>
                </a:solidFill>
                <a:latin typeface="Meiryo" pitchFamily="34" charset="0"/>
                <a:ea typeface="Meiryo" pitchFamily="34" charset="-122"/>
                <a:cs typeface="Meiryo" pitchFamily="34" charset="-120"/>
              </a:rPr>
              <a:t>「週末で回復しても、月曜が怖い」</a:t>
            </a:r>
            <a:endParaRPr lang="en-US" sz="1700" dirty="0"/>
          </a:p>
        </p:txBody>
      </p:sp>
      <p:sp>
        <p:nvSpPr>
          <p:cNvPr id="7" name="Text 5"/>
          <p:cNvSpPr txBox="1"/>
          <p:nvPr/>
        </p:nvSpPr>
        <p:spPr>
          <a:xfrm>
            <a:off x="960120" y="3456432"/>
            <a:ext cx="4609948" cy="105156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通勤や業務は緊張感で乗り切れる。一方で、帰宅後の夜間や土日祝に気力・体力が一気に落ちる。この状態が続くと、再休職のきっかけになりやすい。</a:t>
            </a:r>
            <a:endParaRPr lang="en-US" sz="1250" dirty="0"/>
          </a:p>
        </p:txBody>
      </p:sp>
      <p:sp>
        <p:nvSpPr>
          <p:cNvPr id="8" name="Shape 6"/>
          <p:cNvSpPr/>
          <p:nvPr/>
        </p:nvSpPr>
        <p:spPr>
          <a:xfrm>
            <a:off x="6301588" y="2011680"/>
            <a:ext cx="5250028" cy="2651760"/>
          </a:xfrm>
          <a:prstGeom prst="roundRect">
            <a:avLst>
              <a:gd name="adj" fmla="val 2759"/>
            </a:avLst>
          </a:prstGeom>
          <a:solidFill>
            <a:srgbClr val="F2F4FB"/>
          </a:solidFill>
          <a:ln w="12700">
            <a:solidFill>
              <a:srgbClr val="D9DDEE"/>
            </a:solidFill>
            <a:prstDash val="solid"/>
          </a:ln>
        </p:spPr>
      </p:sp>
      <p:sp>
        <p:nvSpPr>
          <p:cNvPr id="9" name="Text 7"/>
          <p:cNvSpPr txBox="1"/>
          <p:nvPr/>
        </p:nvSpPr>
        <p:spPr>
          <a:xfrm>
            <a:off x="6621628" y="2267712"/>
            <a:ext cx="4609948"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支援員さんの声</a:t>
            </a:r>
            <a:endParaRPr lang="en-US" sz="1200" dirty="0"/>
          </a:p>
        </p:txBody>
      </p:sp>
      <p:sp>
        <p:nvSpPr>
          <p:cNvPr id="10" name="Text 8"/>
          <p:cNvSpPr txBox="1"/>
          <p:nvPr/>
        </p:nvSpPr>
        <p:spPr>
          <a:xfrm>
            <a:off x="6621628" y="2633472"/>
            <a:ext cx="4609948" cy="685800"/>
          </a:xfrm>
          <a:prstGeom prst="rect">
            <a:avLst/>
          </a:prstGeom>
          <a:noFill/>
          <a:ln/>
        </p:spPr>
        <p:txBody>
          <a:bodyPr wrap="square" lIns="0" tIns="0" rIns="0" bIns="0" rtlCol="0" anchor="t"/>
          <a:lstStyle/>
          <a:p>
            <a:pPr indent="0" marL="0">
              <a:lnSpc>
                <a:spcPts val="2600"/>
              </a:lnSpc>
              <a:buNone/>
            </a:pPr>
            <a:r>
              <a:rPr lang="en-US" sz="1700" b="1" dirty="0">
                <a:solidFill>
                  <a:srgbClr val="1A2148"/>
                </a:solidFill>
                <a:latin typeface="Meiryo" pitchFamily="34" charset="0"/>
                <a:ea typeface="Meiryo" pitchFamily="34" charset="-122"/>
                <a:cs typeface="Meiryo" pitchFamily="34" charset="-120"/>
              </a:rPr>
              <a:t>「復職後1〜2か月で、体調記録が途切れる」</a:t>
            </a:r>
            <a:endParaRPr lang="en-US" sz="1700" dirty="0"/>
          </a:p>
        </p:txBody>
      </p:sp>
      <p:sp>
        <p:nvSpPr>
          <p:cNvPr id="11" name="Text 9"/>
          <p:cNvSpPr txBox="1"/>
          <p:nvPr/>
        </p:nvSpPr>
        <p:spPr>
          <a:xfrm>
            <a:off x="6621628" y="3456432"/>
            <a:ext cx="4609948" cy="105156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記録が途切れた頃に不調が出る。けれど面談は、仕事の確認で精一杯。夜間や休日の様子までは、手が回らない。</a:t>
            </a:r>
            <a:endParaRPr lang="en-US" sz="1250" dirty="0"/>
          </a:p>
        </p:txBody>
      </p:sp>
      <p:sp>
        <p:nvSpPr>
          <p:cNvPr id="12" name="Text 10"/>
          <p:cNvSpPr txBox="1"/>
          <p:nvPr/>
        </p:nvSpPr>
        <p:spPr>
          <a:xfrm>
            <a:off x="640080" y="4983480"/>
            <a:ext cx="10911535" cy="411480"/>
          </a:xfrm>
          <a:prstGeom prst="rect">
            <a:avLst/>
          </a:prstGeom>
          <a:noFill/>
          <a:ln/>
        </p:spPr>
        <p:txBody>
          <a:bodyPr wrap="square" lIns="0" tIns="0" rIns="0" bIns="0" rtlCol="0" anchor="ctr"/>
          <a:lstStyle/>
          <a:p>
            <a:pPr indent="0" marL="0">
              <a:buNone/>
            </a:pPr>
            <a:r>
              <a:rPr lang="en-US" sz="1500" b="1" dirty="0">
                <a:solidFill>
                  <a:srgbClr val="1A2148"/>
                </a:solidFill>
                <a:latin typeface="Meiryo" pitchFamily="34" charset="0"/>
                <a:ea typeface="Meiryo" pitchFamily="34" charset="-122"/>
                <a:cs typeface="Meiryo" pitchFamily="34" charset="-120"/>
              </a:rPr>
              <a:t>支援が薄いのは平日夜間・土日祝。ここを埋めることが、ヨルケアが役に立てる場所です。</a:t>
            </a:r>
            <a:endParaRPr lang="en-US" sz="1500" dirty="0"/>
          </a:p>
        </p:txBody>
      </p:sp>
      <p:sp>
        <p:nvSpPr>
          <p:cNvPr id="13" name="Text 11"/>
          <p:cNvSpPr txBox="1"/>
          <p:nvPr/>
        </p:nvSpPr>
        <p:spPr>
          <a:xfrm>
            <a:off x="640080" y="5623560"/>
            <a:ext cx="10911535" cy="310896"/>
          </a:xfrm>
          <a:prstGeom prst="rect">
            <a:avLst/>
          </a:prstGeom>
          <a:noFill/>
          <a:ln/>
        </p:spPr>
        <p:txBody>
          <a:bodyPr wrap="square" lIns="0" tIns="0" rIns="0" bIns="0" rtlCol="0" anchor="ctr"/>
          <a:lstStyle/>
          <a:p>
            <a:pPr indent="0" marL="0">
              <a:lnSpc>
                <a:spcPts val="1600"/>
              </a:lnSpc>
              <a:buNone/>
            </a:pPr>
            <a:r>
              <a:rPr lang="en-US" sz="1100" dirty="0">
                <a:solidFill>
                  <a:srgbClr val="5A6382"/>
                </a:solidFill>
                <a:latin typeface="Meiryo" pitchFamily="34" charset="0"/>
                <a:ea typeface="Meiryo" pitchFamily="34" charset="-122"/>
                <a:cs typeface="Meiryo" pitchFamily="34" charset="-120"/>
              </a:rPr>
              <a:t>出典：これまでのヒアリング（復職された方・支援員の方）</a:t>
            </a:r>
            <a:endParaRPr lang="en-US" sz="110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どういう順番で育てるのか？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3名の試運転から始めて、2028年3月に企業1社の受注まで運ぶ</a:t>
            </a:r>
            <a:endParaRPr lang="en-US" sz="3000" dirty="0"/>
          </a:p>
        </p:txBody>
      </p:sp>
      <p:sp>
        <p:nvSpPr>
          <p:cNvPr id="4" name="Shape 2"/>
          <p:cNvSpPr/>
          <p:nvPr/>
        </p:nvSpPr>
        <p:spPr>
          <a:xfrm>
            <a:off x="640080" y="2011680"/>
            <a:ext cx="2522144" cy="1325880"/>
          </a:xfrm>
          <a:prstGeom prst="roundRect">
            <a:avLst>
              <a:gd name="adj" fmla="val 5517"/>
            </a:avLst>
          </a:prstGeom>
          <a:solidFill>
            <a:srgbClr val="FFF7E0"/>
          </a:solidFill>
          <a:ln w="12700">
            <a:solidFill>
              <a:srgbClr val="B8860B"/>
            </a:solidFill>
            <a:prstDash val="solid"/>
          </a:ln>
        </p:spPr>
      </p:sp>
      <p:sp>
        <p:nvSpPr>
          <p:cNvPr id="5" name="Shape 3"/>
          <p:cNvSpPr/>
          <p:nvPr/>
        </p:nvSpPr>
        <p:spPr>
          <a:xfrm>
            <a:off x="868680" y="2240280"/>
            <a:ext cx="384048" cy="384048"/>
          </a:xfrm>
          <a:prstGeom prst="ellipse">
            <a:avLst/>
          </a:prstGeom>
          <a:solidFill>
            <a:srgbClr val="B8860B"/>
          </a:solidFill>
          <a:ln w="12700">
            <a:solidFill>
              <a:srgbClr val="B8860B"/>
            </a:solidFill>
            <a:prstDash val="solid"/>
          </a:ln>
        </p:spPr>
      </p:sp>
      <p:sp>
        <p:nvSpPr>
          <p:cNvPr id="6" name="Text 4"/>
          <p:cNvSpPr txBox="1"/>
          <p:nvPr/>
        </p:nvSpPr>
        <p:spPr>
          <a:xfrm>
            <a:off x="868680" y="22951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7" name="Text 5"/>
          <p:cNvSpPr txBox="1"/>
          <p:nvPr/>
        </p:nvSpPr>
        <p:spPr>
          <a:xfrm>
            <a:off x="868680" y="26883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試運転</a:t>
            </a:r>
            <a:endParaRPr lang="en-US" sz="1350" dirty="0"/>
          </a:p>
        </p:txBody>
      </p:sp>
      <p:sp>
        <p:nvSpPr>
          <p:cNvPr id="8" name="Text 6"/>
          <p:cNvSpPr txBox="1"/>
          <p:nvPr/>
        </p:nvSpPr>
        <p:spPr>
          <a:xfrm>
            <a:off x="868680" y="29809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1か月・最少3名</a:t>
            </a:r>
            <a:endParaRPr lang="en-US" sz="1100" dirty="0"/>
          </a:p>
        </p:txBody>
      </p:sp>
      <p:sp>
        <p:nvSpPr>
          <p:cNvPr id="9" name="Shape 7"/>
          <p:cNvSpPr/>
          <p:nvPr/>
        </p:nvSpPr>
        <p:spPr>
          <a:xfrm>
            <a:off x="3436544" y="2011680"/>
            <a:ext cx="2522144" cy="1325880"/>
          </a:xfrm>
          <a:prstGeom prst="roundRect">
            <a:avLst>
              <a:gd name="adj" fmla="val 5517"/>
            </a:avLst>
          </a:prstGeom>
          <a:solidFill>
            <a:srgbClr val="F2F4FB"/>
          </a:solidFill>
          <a:ln w="12700">
            <a:solidFill>
              <a:srgbClr val="D9DDEE"/>
            </a:solidFill>
            <a:prstDash val="solid"/>
          </a:ln>
        </p:spPr>
      </p:sp>
      <p:sp>
        <p:nvSpPr>
          <p:cNvPr id="10" name="Shape 8"/>
          <p:cNvSpPr/>
          <p:nvPr/>
        </p:nvSpPr>
        <p:spPr>
          <a:xfrm>
            <a:off x="3665144" y="2240280"/>
            <a:ext cx="384048" cy="384048"/>
          </a:xfrm>
          <a:prstGeom prst="ellipse">
            <a:avLst/>
          </a:prstGeom>
          <a:solidFill>
            <a:srgbClr val="1A2148"/>
          </a:solidFill>
          <a:ln w="12700">
            <a:solidFill>
              <a:srgbClr val="1A2148"/>
            </a:solidFill>
            <a:prstDash val="solid"/>
          </a:ln>
        </p:spPr>
      </p:sp>
      <p:sp>
        <p:nvSpPr>
          <p:cNvPr id="11" name="Text 9"/>
          <p:cNvSpPr txBox="1"/>
          <p:nvPr/>
        </p:nvSpPr>
        <p:spPr>
          <a:xfrm>
            <a:off x="3665144" y="22951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2" name="Text 10"/>
          <p:cNvSpPr txBox="1"/>
          <p:nvPr/>
        </p:nvSpPr>
        <p:spPr>
          <a:xfrm>
            <a:off x="3665144" y="26883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振り返り</a:t>
            </a:r>
            <a:endParaRPr lang="en-US" sz="1350" dirty="0"/>
          </a:p>
        </p:txBody>
      </p:sp>
      <p:sp>
        <p:nvSpPr>
          <p:cNvPr id="13" name="Text 11"/>
          <p:cNvSpPr txBox="1"/>
          <p:nvPr/>
        </p:nvSpPr>
        <p:spPr>
          <a:xfrm>
            <a:off x="3665144" y="29809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ブラッシュアップ</a:t>
            </a:r>
            <a:endParaRPr lang="en-US" sz="1100" dirty="0"/>
          </a:p>
        </p:txBody>
      </p:sp>
      <p:sp>
        <p:nvSpPr>
          <p:cNvPr id="14" name="Shape 12"/>
          <p:cNvSpPr/>
          <p:nvPr/>
        </p:nvSpPr>
        <p:spPr>
          <a:xfrm>
            <a:off x="6233008" y="2011680"/>
            <a:ext cx="2522144" cy="1325880"/>
          </a:xfrm>
          <a:prstGeom prst="roundRect">
            <a:avLst>
              <a:gd name="adj" fmla="val 5517"/>
            </a:avLst>
          </a:prstGeom>
          <a:solidFill>
            <a:srgbClr val="F2F4FB"/>
          </a:solidFill>
          <a:ln w="12700">
            <a:solidFill>
              <a:srgbClr val="D9DDEE"/>
            </a:solidFill>
            <a:prstDash val="solid"/>
          </a:ln>
        </p:spPr>
      </p:sp>
      <p:sp>
        <p:nvSpPr>
          <p:cNvPr id="15" name="Shape 13"/>
          <p:cNvSpPr/>
          <p:nvPr/>
        </p:nvSpPr>
        <p:spPr>
          <a:xfrm>
            <a:off x="6461608" y="2240280"/>
            <a:ext cx="384048" cy="384048"/>
          </a:xfrm>
          <a:prstGeom prst="ellipse">
            <a:avLst/>
          </a:prstGeom>
          <a:solidFill>
            <a:srgbClr val="1A2148"/>
          </a:solidFill>
          <a:ln w="12700">
            <a:solidFill>
              <a:srgbClr val="1A2148"/>
            </a:solidFill>
            <a:prstDash val="solid"/>
          </a:ln>
        </p:spPr>
      </p:sp>
      <p:sp>
        <p:nvSpPr>
          <p:cNvPr id="16" name="Text 14"/>
          <p:cNvSpPr txBox="1"/>
          <p:nvPr/>
        </p:nvSpPr>
        <p:spPr>
          <a:xfrm>
            <a:off x="6461608" y="22951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7" name="Text 15"/>
          <p:cNvSpPr txBox="1"/>
          <p:nvPr/>
        </p:nvSpPr>
        <p:spPr>
          <a:xfrm>
            <a:off x="6461608" y="26883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無料モニター本編</a:t>
            </a:r>
            <a:endParaRPr lang="en-US" sz="1350" dirty="0"/>
          </a:p>
        </p:txBody>
      </p:sp>
      <p:sp>
        <p:nvSpPr>
          <p:cNvPr id="18" name="Text 16"/>
          <p:cNvSpPr txBox="1"/>
          <p:nvPr/>
        </p:nvSpPr>
        <p:spPr>
          <a:xfrm>
            <a:off x="6461608" y="29809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5か月・21名</a:t>
            </a:r>
            <a:endParaRPr lang="en-US" sz="1100" dirty="0"/>
          </a:p>
        </p:txBody>
      </p:sp>
      <p:sp>
        <p:nvSpPr>
          <p:cNvPr id="19" name="Shape 17"/>
          <p:cNvSpPr/>
          <p:nvPr/>
        </p:nvSpPr>
        <p:spPr>
          <a:xfrm>
            <a:off x="9029471" y="2011680"/>
            <a:ext cx="2522144" cy="1325880"/>
          </a:xfrm>
          <a:prstGeom prst="roundRect">
            <a:avLst>
              <a:gd name="adj" fmla="val 5517"/>
            </a:avLst>
          </a:prstGeom>
          <a:solidFill>
            <a:srgbClr val="F2F4FB"/>
          </a:solidFill>
          <a:ln w="12700">
            <a:solidFill>
              <a:srgbClr val="D9DDEE"/>
            </a:solidFill>
            <a:prstDash val="solid"/>
          </a:ln>
        </p:spPr>
      </p:sp>
      <p:sp>
        <p:nvSpPr>
          <p:cNvPr id="20" name="Shape 18"/>
          <p:cNvSpPr/>
          <p:nvPr/>
        </p:nvSpPr>
        <p:spPr>
          <a:xfrm>
            <a:off x="9258071" y="2240280"/>
            <a:ext cx="384048" cy="384048"/>
          </a:xfrm>
          <a:prstGeom prst="ellipse">
            <a:avLst/>
          </a:prstGeom>
          <a:solidFill>
            <a:srgbClr val="1A2148"/>
          </a:solidFill>
          <a:ln w="12700">
            <a:solidFill>
              <a:srgbClr val="1A2148"/>
            </a:solidFill>
            <a:prstDash val="solid"/>
          </a:ln>
        </p:spPr>
      </p:sp>
      <p:sp>
        <p:nvSpPr>
          <p:cNvPr id="21" name="Text 19"/>
          <p:cNvSpPr txBox="1"/>
          <p:nvPr/>
        </p:nvSpPr>
        <p:spPr>
          <a:xfrm>
            <a:off x="9258071" y="22951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2" name="Text 20"/>
          <p:cNvSpPr txBox="1"/>
          <p:nvPr/>
        </p:nvSpPr>
        <p:spPr>
          <a:xfrm>
            <a:off x="9258071" y="26883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エビデンスづくり</a:t>
            </a:r>
            <a:endParaRPr lang="en-US" sz="1350" dirty="0"/>
          </a:p>
        </p:txBody>
      </p:sp>
      <p:sp>
        <p:nvSpPr>
          <p:cNvPr id="23" name="Text 21"/>
          <p:cNvSpPr txBox="1"/>
          <p:nvPr/>
        </p:nvSpPr>
        <p:spPr>
          <a:xfrm>
            <a:off x="9258071" y="29809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参加者の変化・完走率</a:t>
            </a:r>
            <a:endParaRPr lang="en-US" sz="1100" dirty="0"/>
          </a:p>
        </p:txBody>
      </p:sp>
      <p:sp>
        <p:nvSpPr>
          <p:cNvPr id="24" name="Shape 22"/>
          <p:cNvSpPr/>
          <p:nvPr/>
        </p:nvSpPr>
        <p:spPr>
          <a:xfrm>
            <a:off x="640080" y="3611880"/>
            <a:ext cx="2522144" cy="1325880"/>
          </a:xfrm>
          <a:prstGeom prst="roundRect">
            <a:avLst>
              <a:gd name="adj" fmla="val 5517"/>
            </a:avLst>
          </a:prstGeom>
          <a:solidFill>
            <a:srgbClr val="F2F4FB"/>
          </a:solidFill>
          <a:ln w="12700">
            <a:solidFill>
              <a:srgbClr val="D9DDEE"/>
            </a:solidFill>
            <a:prstDash val="solid"/>
          </a:ln>
        </p:spPr>
      </p:sp>
      <p:sp>
        <p:nvSpPr>
          <p:cNvPr id="25" name="Shape 23"/>
          <p:cNvSpPr/>
          <p:nvPr/>
        </p:nvSpPr>
        <p:spPr>
          <a:xfrm>
            <a:off x="868680" y="3840480"/>
            <a:ext cx="384048" cy="384048"/>
          </a:xfrm>
          <a:prstGeom prst="ellipse">
            <a:avLst/>
          </a:prstGeom>
          <a:solidFill>
            <a:srgbClr val="1A2148"/>
          </a:solidFill>
          <a:ln w="12700">
            <a:solidFill>
              <a:srgbClr val="1A2148"/>
            </a:solidFill>
            <a:prstDash val="solid"/>
          </a:ln>
        </p:spPr>
      </p:sp>
      <p:sp>
        <p:nvSpPr>
          <p:cNvPr id="26" name="Text 24"/>
          <p:cNvSpPr txBox="1"/>
          <p:nvPr/>
        </p:nvSpPr>
        <p:spPr>
          <a:xfrm>
            <a:off x="868680" y="38953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5</a:t>
            </a:r>
            <a:endParaRPr lang="en-US" sz="1200" dirty="0"/>
          </a:p>
        </p:txBody>
      </p:sp>
      <p:sp>
        <p:nvSpPr>
          <p:cNvPr id="27" name="Text 25"/>
          <p:cNvSpPr txBox="1"/>
          <p:nvPr/>
        </p:nvSpPr>
        <p:spPr>
          <a:xfrm>
            <a:off x="868680" y="42885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個人会員の募集</a:t>
            </a:r>
            <a:endParaRPr lang="en-US" sz="1350" dirty="0"/>
          </a:p>
        </p:txBody>
      </p:sp>
      <p:sp>
        <p:nvSpPr>
          <p:cNvPr id="28" name="Text 26"/>
          <p:cNvSpPr txBox="1"/>
          <p:nvPr/>
        </p:nvSpPr>
        <p:spPr>
          <a:xfrm>
            <a:off x="868680" y="45811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1か月</a:t>
            </a:r>
            <a:endParaRPr lang="en-US" sz="1100" dirty="0"/>
          </a:p>
        </p:txBody>
      </p:sp>
      <p:sp>
        <p:nvSpPr>
          <p:cNvPr id="29" name="Shape 27"/>
          <p:cNvSpPr/>
          <p:nvPr/>
        </p:nvSpPr>
        <p:spPr>
          <a:xfrm>
            <a:off x="3436544" y="3611880"/>
            <a:ext cx="2522144" cy="1325880"/>
          </a:xfrm>
          <a:prstGeom prst="roundRect">
            <a:avLst>
              <a:gd name="adj" fmla="val 5517"/>
            </a:avLst>
          </a:prstGeom>
          <a:solidFill>
            <a:srgbClr val="F2F4FB"/>
          </a:solidFill>
          <a:ln w="12700">
            <a:solidFill>
              <a:srgbClr val="D9DDEE"/>
            </a:solidFill>
            <a:prstDash val="solid"/>
          </a:ln>
        </p:spPr>
      </p:sp>
      <p:sp>
        <p:nvSpPr>
          <p:cNvPr id="30" name="Shape 28"/>
          <p:cNvSpPr/>
          <p:nvPr/>
        </p:nvSpPr>
        <p:spPr>
          <a:xfrm>
            <a:off x="3665144" y="3840480"/>
            <a:ext cx="384048" cy="384048"/>
          </a:xfrm>
          <a:prstGeom prst="ellipse">
            <a:avLst/>
          </a:prstGeom>
          <a:solidFill>
            <a:srgbClr val="1A2148"/>
          </a:solidFill>
          <a:ln w="12700">
            <a:solidFill>
              <a:srgbClr val="1A2148"/>
            </a:solidFill>
            <a:prstDash val="solid"/>
          </a:ln>
        </p:spPr>
      </p:sp>
      <p:sp>
        <p:nvSpPr>
          <p:cNvPr id="31" name="Text 29"/>
          <p:cNvSpPr txBox="1"/>
          <p:nvPr/>
        </p:nvSpPr>
        <p:spPr>
          <a:xfrm>
            <a:off x="3665144" y="38953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6</a:t>
            </a:r>
            <a:endParaRPr lang="en-US" sz="1200" dirty="0"/>
          </a:p>
        </p:txBody>
      </p:sp>
      <p:sp>
        <p:nvSpPr>
          <p:cNvPr id="32" name="Text 30"/>
          <p:cNvSpPr txBox="1"/>
          <p:nvPr/>
        </p:nvSpPr>
        <p:spPr>
          <a:xfrm>
            <a:off x="3665144" y="42885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個人向けサービス開始</a:t>
            </a:r>
            <a:endParaRPr lang="en-US" sz="1350" dirty="0"/>
          </a:p>
        </p:txBody>
      </p:sp>
      <p:sp>
        <p:nvSpPr>
          <p:cNvPr id="33" name="Text 31"/>
          <p:cNvSpPr txBox="1"/>
          <p:nvPr/>
        </p:nvSpPr>
        <p:spPr>
          <a:xfrm>
            <a:off x="3665144" y="45811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月5,000円</a:t>
            </a:r>
            <a:endParaRPr lang="en-US" sz="1100" dirty="0"/>
          </a:p>
        </p:txBody>
      </p:sp>
      <p:sp>
        <p:nvSpPr>
          <p:cNvPr id="34" name="Shape 32"/>
          <p:cNvSpPr/>
          <p:nvPr/>
        </p:nvSpPr>
        <p:spPr>
          <a:xfrm>
            <a:off x="6233008" y="3611880"/>
            <a:ext cx="2522144" cy="1325880"/>
          </a:xfrm>
          <a:prstGeom prst="roundRect">
            <a:avLst>
              <a:gd name="adj" fmla="val 5517"/>
            </a:avLst>
          </a:prstGeom>
          <a:solidFill>
            <a:srgbClr val="F2F4FB"/>
          </a:solidFill>
          <a:ln w="12700">
            <a:solidFill>
              <a:srgbClr val="D9DDEE"/>
            </a:solidFill>
            <a:prstDash val="solid"/>
          </a:ln>
        </p:spPr>
      </p:sp>
      <p:sp>
        <p:nvSpPr>
          <p:cNvPr id="35" name="Shape 33"/>
          <p:cNvSpPr/>
          <p:nvPr/>
        </p:nvSpPr>
        <p:spPr>
          <a:xfrm>
            <a:off x="6461608" y="3840480"/>
            <a:ext cx="384048" cy="384048"/>
          </a:xfrm>
          <a:prstGeom prst="ellipse">
            <a:avLst/>
          </a:prstGeom>
          <a:solidFill>
            <a:srgbClr val="1A2148"/>
          </a:solidFill>
          <a:ln w="12700">
            <a:solidFill>
              <a:srgbClr val="1A2148"/>
            </a:solidFill>
            <a:prstDash val="solid"/>
          </a:ln>
        </p:spPr>
      </p:sp>
      <p:sp>
        <p:nvSpPr>
          <p:cNvPr id="36" name="Text 34"/>
          <p:cNvSpPr txBox="1"/>
          <p:nvPr/>
        </p:nvSpPr>
        <p:spPr>
          <a:xfrm>
            <a:off x="6461608" y="38953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7</a:t>
            </a:r>
            <a:endParaRPr lang="en-US" sz="1200" dirty="0"/>
          </a:p>
        </p:txBody>
      </p:sp>
      <p:sp>
        <p:nvSpPr>
          <p:cNvPr id="37" name="Text 35"/>
          <p:cNvSpPr txBox="1"/>
          <p:nvPr/>
        </p:nvSpPr>
        <p:spPr>
          <a:xfrm>
            <a:off x="6461608" y="42885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企業・支援機関へ営業</a:t>
            </a:r>
            <a:endParaRPr lang="en-US" sz="1350" dirty="0"/>
          </a:p>
        </p:txBody>
      </p:sp>
      <p:sp>
        <p:nvSpPr>
          <p:cNvPr id="38" name="Text 36"/>
          <p:cNvSpPr txBox="1"/>
          <p:nvPr/>
        </p:nvSpPr>
        <p:spPr>
          <a:xfrm>
            <a:off x="6461608" y="45811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2027年7月ごろ〜</a:t>
            </a:r>
            <a:endParaRPr lang="en-US" sz="1100" dirty="0"/>
          </a:p>
        </p:txBody>
      </p:sp>
      <p:sp>
        <p:nvSpPr>
          <p:cNvPr id="39" name="Shape 37"/>
          <p:cNvSpPr/>
          <p:nvPr/>
        </p:nvSpPr>
        <p:spPr>
          <a:xfrm>
            <a:off x="9029471" y="3611880"/>
            <a:ext cx="2522144" cy="1325880"/>
          </a:xfrm>
          <a:prstGeom prst="roundRect">
            <a:avLst>
              <a:gd name="adj" fmla="val 5517"/>
            </a:avLst>
          </a:prstGeom>
          <a:solidFill>
            <a:srgbClr val="F2F4FB"/>
          </a:solidFill>
          <a:ln w="12700">
            <a:solidFill>
              <a:srgbClr val="D9DDEE"/>
            </a:solidFill>
            <a:prstDash val="solid"/>
          </a:ln>
        </p:spPr>
      </p:sp>
      <p:sp>
        <p:nvSpPr>
          <p:cNvPr id="40" name="Shape 38"/>
          <p:cNvSpPr/>
          <p:nvPr/>
        </p:nvSpPr>
        <p:spPr>
          <a:xfrm>
            <a:off x="9258071" y="3840480"/>
            <a:ext cx="384048" cy="384048"/>
          </a:xfrm>
          <a:prstGeom prst="ellipse">
            <a:avLst/>
          </a:prstGeom>
          <a:solidFill>
            <a:srgbClr val="1A2148"/>
          </a:solidFill>
          <a:ln w="12700">
            <a:solidFill>
              <a:srgbClr val="1A2148"/>
            </a:solidFill>
            <a:prstDash val="solid"/>
          </a:ln>
        </p:spPr>
      </p:sp>
      <p:sp>
        <p:nvSpPr>
          <p:cNvPr id="41" name="Text 39"/>
          <p:cNvSpPr txBox="1"/>
          <p:nvPr/>
        </p:nvSpPr>
        <p:spPr>
          <a:xfrm>
            <a:off x="9258071" y="3895344"/>
            <a:ext cx="38404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8</a:t>
            </a:r>
            <a:endParaRPr lang="en-US" sz="1200" dirty="0"/>
          </a:p>
        </p:txBody>
      </p:sp>
      <p:sp>
        <p:nvSpPr>
          <p:cNvPr id="42" name="Text 40"/>
          <p:cNvSpPr txBox="1"/>
          <p:nvPr/>
        </p:nvSpPr>
        <p:spPr>
          <a:xfrm>
            <a:off x="9258071" y="4288536"/>
            <a:ext cx="2064944" cy="274320"/>
          </a:xfrm>
          <a:prstGeom prst="rect">
            <a:avLst/>
          </a:prstGeom>
          <a:noFill/>
          <a:ln/>
        </p:spPr>
        <p:txBody>
          <a:bodyPr wrap="square" lIns="0" tIns="0" rIns="0" bIns="0" rtlCol="0" anchor="t"/>
          <a:lstStyle/>
          <a:p>
            <a:pPr indent="0" marL="0">
              <a:lnSpc>
                <a:spcPts val="2200"/>
              </a:lnSpc>
              <a:buNone/>
            </a:pPr>
            <a:r>
              <a:rPr lang="en-US" sz="1350" b="1" dirty="0">
                <a:solidFill>
                  <a:srgbClr val="1A2148"/>
                </a:solidFill>
                <a:latin typeface="Meiryo" pitchFamily="34" charset="0"/>
                <a:ea typeface="Meiryo" pitchFamily="34" charset="-122"/>
                <a:cs typeface="Meiryo" pitchFamily="34" charset="-120"/>
              </a:rPr>
              <a:t>企業から試験導入を受注</a:t>
            </a:r>
            <a:endParaRPr lang="en-US" sz="1350" dirty="0"/>
          </a:p>
        </p:txBody>
      </p:sp>
      <p:sp>
        <p:nvSpPr>
          <p:cNvPr id="43" name="Text 41"/>
          <p:cNvSpPr txBox="1"/>
          <p:nvPr/>
        </p:nvSpPr>
        <p:spPr>
          <a:xfrm>
            <a:off x="9258071" y="4581144"/>
            <a:ext cx="2064944" cy="292608"/>
          </a:xfrm>
          <a:prstGeom prst="rect">
            <a:avLst/>
          </a:prstGeom>
          <a:noFill/>
          <a:ln/>
        </p:spPr>
        <p:txBody>
          <a:bodyPr wrap="square" lIns="0" tIns="0" rIns="0" bIns="0" rtlCol="0" anchor="t"/>
          <a:lstStyle/>
          <a:p>
            <a:pPr indent="0" marL="0">
              <a:lnSpc>
                <a:spcPts val="2200"/>
              </a:lnSpc>
              <a:buNone/>
            </a:pPr>
            <a:r>
              <a:rPr lang="en-US" sz="1100" dirty="0">
                <a:solidFill>
                  <a:srgbClr val="5A6382"/>
                </a:solidFill>
                <a:latin typeface="Meiryo" pitchFamily="34" charset="0"/>
                <a:ea typeface="Meiryo" pitchFamily="34" charset="-122"/>
                <a:cs typeface="Meiryo" pitchFamily="34" charset="-120"/>
              </a:rPr>
              <a:t>2028年3月まで</a:t>
            </a:r>
            <a:endParaRPr lang="en-US" sz="1100" dirty="0"/>
          </a:p>
        </p:txBody>
      </p:sp>
      <p:sp>
        <p:nvSpPr>
          <p:cNvPr id="44" name="Text 42"/>
          <p:cNvSpPr txBox="1"/>
          <p:nvPr/>
        </p:nvSpPr>
        <p:spPr>
          <a:xfrm>
            <a:off x="640080" y="5349240"/>
            <a:ext cx="5943600" cy="365760"/>
          </a:xfrm>
          <a:prstGeom prst="rect">
            <a:avLst/>
          </a:prstGeom>
          <a:noFill/>
          <a:ln/>
        </p:spPr>
        <p:txBody>
          <a:bodyPr wrap="square" lIns="0" tIns="0" rIns="0" bIns="0" rtlCol="0" anchor="ctr"/>
          <a:lstStyle/>
          <a:p>
            <a:pPr indent="0" marL="0">
              <a:buNone/>
            </a:pPr>
            <a:r>
              <a:rPr lang="en-US" sz="1500" b="1" dirty="0">
                <a:solidFill>
                  <a:srgbClr val="B8860B"/>
                </a:solidFill>
                <a:latin typeface="Meiryo" pitchFamily="34" charset="0"/>
                <a:ea typeface="Meiryo" pitchFamily="34" charset="-122"/>
                <a:cs typeface="Meiryo" pitchFamily="34" charset="-120"/>
              </a:rPr>
              <a:t>今日ご相談しているのは、1つめのマスだけです。</a:t>
            </a:r>
            <a:endParaRPr lang="en-US" sz="1500" dirty="0"/>
          </a:p>
        </p:txBody>
      </p:sp>
      <p:sp>
        <p:nvSpPr>
          <p:cNvPr id="45" name="Text 43"/>
          <p:cNvSpPr txBox="1"/>
          <p:nvPr/>
        </p:nvSpPr>
        <p:spPr>
          <a:xfrm>
            <a:off x="640080" y="5742432"/>
            <a:ext cx="10911535" cy="310896"/>
          </a:xfrm>
          <a:prstGeom prst="rect">
            <a:avLst/>
          </a:prstGeom>
          <a:noFill/>
          <a:ln/>
        </p:spPr>
        <p:txBody>
          <a:bodyPr wrap="square" lIns="0" tIns="0" rIns="0" bIns="0" rtlCol="0" anchor="ctr"/>
          <a:lstStyle/>
          <a:p>
            <a:pPr indent="0" marL="0">
              <a:lnSpc>
                <a:spcPts val="1600"/>
              </a:lnSpc>
              <a:buNone/>
            </a:pPr>
            <a:r>
              <a:rPr lang="en-US" sz="1100" dirty="0">
                <a:solidFill>
                  <a:srgbClr val="5A6382"/>
                </a:solidFill>
                <a:latin typeface="Meiryo" pitchFamily="34" charset="0"/>
                <a:ea typeface="Meiryo" pitchFamily="34" charset="-122"/>
                <a:cs typeface="Meiryo" pitchFamily="34" charset="-120"/>
              </a:rPr>
              <a:t>企業への営業は、エビデンスと個人会員という実績ができてから始める設計。地ならしの期間がない分、受注までの期間は長めに見ています。</a:t>
            </a:r>
            <a:endParaRPr lang="en-US" sz="1100" dirty="0"/>
          </a:p>
        </p:txBody>
      </p:sp>
      <p:sp>
        <p:nvSpPr>
          <p:cNvPr id="46" name="Text 44"/>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なぜ、いきなり本編ではないのか？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最少3名で進行と安全対応を確かめてから、21名に進む</a:t>
            </a:r>
            <a:endParaRPr lang="en-US" sz="3000" dirty="0"/>
          </a:p>
        </p:txBody>
      </p:sp>
      <p:sp>
        <p:nvSpPr>
          <p:cNvPr id="4" name="Shape 2"/>
          <p:cNvSpPr/>
          <p:nvPr/>
        </p:nvSpPr>
        <p:spPr>
          <a:xfrm>
            <a:off x="640080" y="2011680"/>
            <a:ext cx="5120640" cy="2606040"/>
          </a:xfrm>
          <a:prstGeom prst="roundRect">
            <a:avLst>
              <a:gd name="adj" fmla="val 2807"/>
            </a:avLst>
          </a:prstGeom>
          <a:solidFill>
            <a:srgbClr val="FFF7E0"/>
          </a:solidFill>
          <a:ln w="12700">
            <a:solidFill>
              <a:srgbClr val="B8860B"/>
            </a:solidFill>
            <a:prstDash val="solid"/>
          </a:ln>
        </p:spPr>
      </p:sp>
      <p:sp>
        <p:nvSpPr>
          <p:cNvPr id="5" name="Text 3"/>
          <p:cNvSpPr txBox="1"/>
          <p:nvPr/>
        </p:nvSpPr>
        <p:spPr>
          <a:xfrm>
            <a:off x="960120" y="2267712"/>
            <a:ext cx="4572000" cy="274320"/>
          </a:xfrm>
          <a:prstGeom prst="rect">
            <a:avLst/>
          </a:prstGeom>
          <a:noFill/>
          <a:ln/>
        </p:spPr>
        <p:txBody>
          <a:bodyPr wrap="square" lIns="0" tIns="0" rIns="0" bIns="0" rtlCol="0" anchor="ctr"/>
          <a:lstStyle/>
          <a:p>
            <a:pPr indent="0" marL="0">
              <a:buNone/>
            </a:pPr>
            <a:r>
              <a:rPr lang="en-US" sz="1200" b="1" dirty="0">
                <a:solidFill>
                  <a:srgbClr val="B8860B"/>
                </a:solidFill>
                <a:latin typeface="Meiryo" pitchFamily="34" charset="0"/>
                <a:ea typeface="Meiryo" pitchFamily="34" charset="-122"/>
                <a:cs typeface="Meiryo" pitchFamily="34" charset="-120"/>
              </a:rPr>
              <a:t>試運転（1か月・最少3名）</a:t>
            </a:r>
            <a:endParaRPr lang="en-US" sz="1200" dirty="0"/>
          </a:p>
        </p:txBody>
      </p:sp>
      <p:sp>
        <p:nvSpPr>
          <p:cNvPr id="6" name="Text 4"/>
          <p:cNvSpPr txBox="1"/>
          <p:nvPr/>
        </p:nvSpPr>
        <p:spPr>
          <a:xfrm>
            <a:off x="960120" y="2633472"/>
            <a:ext cx="4572000" cy="320040"/>
          </a:xfrm>
          <a:prstGeom prst="rect">
            <a:avLst/>
          </a:prstGeom>
          <a:noFill/>
          <a:ln/>
        </p:spPr>
        <p:txBody>
          <a:bodyPr wrap="square" lIns="0" tIns="0" rIns="0" bIns="0" rtlCol="0" anchor="t"/>
          <a:lstStyle/>
          <a:p>
            <a:pPr indent="0" marL="0">
              <a:lnSpc>
                <a:spcPts val="2200"/>
              </a:lnSpc>
              <a:buNone/>
            </a:pPr>
            <a:r>
              <a:rPr lang="en-US" sz="1250" b="1" dirty="0">
                <a:solidFill>
                  <a:srgbClr val="1A2148"/>
                </a:solidFill>
                <a:latin typeface="Meiryo" pitchFamily="34" charset="0"/>
                <a:ea typeface="Meiryo" pitchFamily="34" charset="-122"/>
                <a:cs typeface="Meiryo" pitchFamily="34" charset="-120"/>
              </a:rPr>
              <a:t>ここで確かめること</a:t>
            </a:r>
            <a:endParaRPr lang="en-US" sz="1250" dirty="0"/>
          </a:p>
        </p:txBody>
      </p:sp>
      <p:sp>
        <p:nvSpPr>
          <p:cNvPr id="7" name="Text 5"/>
          <p:cNvSpPr txBox="1"/>
          <p:nvPr/>
        </p:nvSpPr>
        <p:spPr>
          <a:xfrm>
            <a:off x="960120" y="2971800"/>
            <a:ext cx="4572000" cy="1371600"/>
          </a:xfrm>
          <a:prstGeom prst="rect">
            <a:avLst/>
          </a:prstGeom>
          <a:noFill/>
          <a:ln/>
        </p:spPr>
        <p:txBody>
          <a:bodyPr wrap="square" lIns="0" tIns="0" rIns="0" bIns="0" rtlCol="0" anchor="ctr"/>
          <a:lstStyle/>
          <a:p>
            <a:pPr marL="342900" indent="-342900">
              <a:lnSpc>
                <a:spcPts val="2000"/>
              </a:lnSpc>
              <a:spcAft>
                <a:spcPts val="600"/>
              </a:spcAft>
              <a:buSzPct val="100000"/>
              <a:buChar char="•"/>
            </a:pPr>
            <a:r>
              <a:rPr lang="en-US" sz="1250" dirty="0">
                <a:solidFill>
                  <a:srgbClr val="1A2148"/>
                </a:solidFill>
                <a:latin typeface="Meiryo" pitchFamily="34" charset="0"/>
                <a:ea typeface="Meiryo" pitchFamily="34" charset="-122"/>
                <a:cs typeface="Meiryo" pitchFamily="34" charset="-120"/>
              </a:rPr>
              <a:t>進行のしかた（火・木の夜／日曜）</a:t>
            </a:r>
            <a:endParaRPr lang="en-US" sz="1250" dirty="0"/>
          </a:p>
          <a:p>
            <a:pPr marL="342900" indent="-342900">
              <a:lnSpc>
                <a:spcPts val="2000"/>
              </a:lnSpc>
              <a:spcAft>
                <a:spcPts val="600"/>
              </a:spcAft>
              <a:buSzPct val="100000"/>
              <a:buChar char="•"/>
            </a:pPr>
            <a:r>
              <a:rPr lang="en-US" sz="1250" dirty="0">
                <a:solidFill>
                  <a:srgbClr val="1A2148"/>
                </a:solidFill>
                <a:latin typeface="Meiryo" pitchFamily="34" charset="0"/>
                <a:ea typeface="Meiryo" pitchFamily="34" charset="-122"/>
                <a:cs typeface="Meiryo" pitchFamily="34" charset="-120"/>
              </a:rPr>
              <a:t>アプリの入力項目が実際に使えるか</a:t>
            </a:r>
            <a:endParaRPr lang="en-US" sz="1250" dirty="0"/>
          </a:p>
          <a:p>
            <a:pPr marL="342900" indent="-342900">
              <a:lnSpc>
                <a:spcPts val="2000"/>
              </a:lnSpc>
              <a:spcAft>
                <a:spcPts val="600"/>
              </a:spcAft>
              <a:buSzPct val="100000"/>
              <a:buChar char="•"/>
            </a:pPr>
            <a:r>
              <a:rPr lang="en-US" sz="1250" dirty="0">
                <a:solidFill>
                  <a:srgbClr val="1A2148"/>
                </a:solidFill>
                <a:latin typeface="Meiryo" pitchFamily="34" charset="0"/>
                <a:ea typeface="Meiryo" pitchFamily="34" charset="-122"/>
                <a:cs typeface="Meiryo" pitchFamily="34" charset="-120"/>
              </a:rPr>
              <a:t>安全対応が、実際にどう動くか</a:t>
            </a:r>
            <a:endParaRPr lang="en-US" sz="1250" dirty="0"/>
          </a:p>
        </p:txBody>
      </p:sp>
      <p:sp>
        <p:nvSpPr>
          <p:cNvPr id="8" name="Shape 6"/>
          <p:cNvSpPr/>
          <p:nvPr/>
        </p:nvSpPr>
        <p:spPr>
          <a:xfrm>
            <a:off x="5943600" y="3063240"/>
            <a:ext cx="566928" cy="384048"/>
          </a:xfrm>
          <a:prstGeom prst="rightArrow">
            <a:avLst/>
          </a:prstGeom>
          <a:solidFill>
            <a:srgbClr val="C8CDDF"/>
          </a:solidFill>
          <a:ln w="12700">
            <a:solidFill>
              <a:srgbClr val="C8CDDF"/>
            </a:solidFill>
            <a:prstDash val="solid"/>
          </a:ln>
        </p:spPr>
      </p:sp>
      <p:sp>
        <p:nvSpPr>
          <p:cNvPr id="9" name="Shape 7"/>
          <p:cNvSpPr/>
          <p:nvPr/>
        </p:nvSpPr>
        <p:spPr>
          <a:xfrm>
            <a:off x="6720840" y="2011680"/>
            <a:ext cx="4800600" cy="2606040"/>
          </a:xfrm>
          <a:prstGeom prst="roundRect">
            <a:avLst>
              <a:gd name="adj" fmla="val 2807"/>
            </a:avLst>
          </a:prstGeom>
          <a:solidFill>
            <a:srgbClr val="F2F4FB"/>
          </a:solidFill>
          <a:ln w="12700">
            <a:solidFill>
              <a:srgbClr val="D9DDEE"/>
            </a:solidFill>
            <a:prstDash val="solid"/>
          </a:ln>
        </p:spPr>
      </p:sp>
      <p:sp>
        <p:nvSpPr>
          <p:cNvPr id="10" name="Text 8"/>
          <p:cNvSpPr txBox="1"/>
          <p:nvPr/>
        </p:nvSpPr>
        <p:spPr>
          <a:xfrm>
            <a:off x="7040880" y="2267712"/>
            <a:ext cx="4206240"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無料モニター本編（5か月・21名）</a:t>
            </a:r>
            <a:endParaRPr lang="en-US" sz="1200" dirty="0"/>
          </a:p>
        </p:txBody>
      </p:sp>
      <p:sp>
        <p:nvSpPr>
          <p:cNvPr id="11" name="Text 9"/>
          <p:cNvSpPr txBox="1"/>
          <p:nvPr/>
        </p:nvSpPr>
        <p:spPr>
          <a:xfrm>
            <a:off x="7040880" y="2651760"/>
            <a:ext cx="4160520" cy="173736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試運転で直したものを持って、本編に進みます。いきなり21名で走り出すと、進行の詰まりも安全対応の穴も、参加者の負担として出てしまう。まずは小さく確かめさせてください。</a:t>
            </a:r>
            <a:endParaRPr lang="en-US" sz="1250" dirty="0"/>
          </a:p>
        </p:txBody>
      </p:sp>
      <p:sp>
        <p:nvSpPr>
          <p:cNvPr id="12" name="Shape 10"/>
          <p:cNvSpPr/>
          <p:nvPr/>
        </p:nvSpPr>
        <p:spPr>
          <a:xfrm>
            <a:off x="640080" y="4892040"/>
            <a:ext cx="10911535" cy="868680"/>
          </a:xfrm>
          <a:prstGeom prst="roundRect">
            <a:avLst>
              <a:gd name="adj" fmla="val 8421"/>
            </a:avLst>
          </a:prstGeom>
          <a:solidFill>
            <a:srgbClr val="EEF0FA"/>
          </a:solidFill>
          <a:ln w="12700">
            <a:solidFill>
              <a:srgbClr val="C9CFEA"/>
            </a:solidFill>
            <a:prstDash val="solid"/>
          </a:ln>
        </p:spPr>
      </p:sp>
      <p:sp>
        <p:nvSpPr>
          <p:cNvPr id="13" name="Text 11"/>
          <p:cNvSpPr txBox="1"/>
          <p:nvPr/>
        </p:nvSpPr>
        <p:spPr>
          <a:xfrm>
            <a:off x="960120" y="5120640"/>
            <a:ext cx="10271455" cy="457200"/>
          </a:xfrm>
          <a:prstGeom prst="rect">
            <a:avLst/>
          </a:prstGeom>
          <a:noFill/>
          <a:ln/>
        </p:spPr>
        <p:txBody>
          <a:bodyPr wrap="square" lIns="0" tIns="0" rIns="0" bIns="0" rtlCol="0" anchor="t"/>
          <a:lstStyle/>
          <a:p>
            <a:pPr indent="0" marL="0">
              <a:lnSpc>
                <a:spcPts val="2200"/>
              </a:lnSpc>
              <a:buNone/>
            </a:pPr>
            <a:r>
              <a:rPr lang="en-US" sz="1300" b="1" dirty="0">
                <a:solidFill>
                  <a:srgbClr val="1A2148"/>
                </a:solidFill>
                <a:latin typeface="Meiryo" pitchFamily="34" charset="0"/>
                <a:ea typeface="Meiryo" pitchFamily="34" charset="-122"/>
                <a:cs typeface="Meiryo" pitchFamily="34" charset="-120"/>
              </a:rPr>
              <a:t>精神科医・安全責任者は、すでに確保できています。安全対応3段階・尺度の使用条件も整理済みです。</a:t>
            </a:r>
            <a:endParaRPr lang="en-US" sz="130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なぜ企業受注をゴールにするのか？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個人向けは実績づくり。企業受注は、同じ稼働で約7倍の単価</a:t>
            </a:r>
            <a:endParaRPr lang="en-US" sz="3000" dirty="0"/>
          </a:p>
        </p:txBody>
      </p:sp>
      <p:sp>
        <p:nvSpPr>
          <p:cNvPr id="4" name="Shape 2"/>
          <p:cNvSpPr/>
          <p:nvPr/>
        </p:nvSpPr>
        <p:spPr>
          <a:xfrm>
            <a:off x="640080" y="2011680"/>
            <a:ext cx="3392424" cy="2834640"/>
          </a:xfrm>
          <a:prstGeom prst="roundRect">
            <a:avLst>
              <a:gd name="adj" fmla="val 2581"/>
            </a:avLst>
          </a:prstGeom>
          <a:solidFill>
            <a:srgbClr val="F2F4FB"/>
          </a:solidFill>
          <a:ln w="12700">
            <a:solidFill>
              <a:srgbClr val="D9DDEE"/>
            </a:solidFill>
            <a:prstDash val="solid"/>
          </a:ln>
        </p:spPr>
      </p:sp>
      <p:sp>
        <p:nvSpPr>
          <p:cNvPr id="5" name="Text 3"/>
          <p:cNvSpPr txBox="1"/>
          <p:nvPr/>
        </p:nvSpPr>
        <p:spPr>
          <a:xfrm>
            <a:off x="960120" y="2240280"/>
            <a:ext cx="2752344" cy="274320"/>
          </a:xfrm>
          <a:prstGeom prst="rect">
            <a:avLst/>
          </a:prstGeom>
          <a:noFill/>
          <a:ln/>
        </p:spPr>
        <p:txBody>
          <a:bodyPr wrap="square" lIns="0" tIns="0" rIns="0" bIns="0" rtlCol="0" anchor="ctr"/>
          <a:lstStyle/>
          <a:p>
            <a:pPr indent="0" marL="0">
              <a:buNone/>
            </a:pPr>
            <a:r>
              <a:rPr lang="en-US" sz="1200" b="1" dirty="0">
                <a:solidFill>
                  <a:srgbClr val="5A6382"/>
                </a:solidFill>
                <a:latin typeface="Meiryo" pitchFamily="34" charset="0"/>
                <a:ea typeface="Meiryo" pitchFamily="34" charset="-122"/>
                <a:cs typeface="Meiryo" pitchFamily="34" charset="-120"/>
              </a:rPr>
              <a:t>個人向け</a:t>
            </a:r>
            <a:endParaRPr lang="en-US" sz="1200" dirty="0"/>
          </a:p>
        </p:txBody>
      </p:sp>
      <p:sp>
        <p:nvSpPr>
          <p:cNvPr id="6" name="Text 4"/>
          <p:cNvSpPr txBox="1"/>
          <p:nvPr/>
        </p:nvSpPr>
        <p:spPr>
          <a:xfrm>
            <a:off x="960120" y="2560320"/>
            <a:ext cx="2752344" cy="777240"/>
          </a:xfrm>
          <a:prstGeom prst="rect">
            <a:avLst/>
          </a:prstGeom>
          <a:noFill/>
          <a:ln/>
        </p:spPr>
        <p:txBody>
          <a:bodyPr wrap="square" lIns="0" tIns="0" rIns="0" bIns="0" rtlCol="0" anchor="ctr"/>
          <a:lstStyle/>
          <a:p>
            <a:pPr algn="l" indent="0" marL="0">
              <a:buNone/>
            </a:pPr>
            <a:r>
              <a:rPr lang="en-US" sz="2600" b="1" dirty="0">
                <a:solidFill>
                  <a:srgbClr val="5A6382"/>
                </a:solidFill>
                <a:latin typeface="Meiryo" pitchFamily="34" charset="0"/>
                <a:ea typeface="Meiryo" pitchFamily="34" charset="-122"/>
                <a:cs typeface="Meiryo" pitchFamily="34" charset="-120"/>
              </a:rPr>
              <a:t>月5,000円</a:t>
            </a:r>
            <a:endParaRPr lang="en-US" sz="2600" dirty="0"/>
          </a:p>
        </p:txBody>
      </p:sp>
      <p:sp>
        <p:nvSpPr>
          <p:cNvPr id="7" name="Text 5"/>
          <p:cNvSpPr txBox="1"/>
          <p:nvPr/>
        </p:nvSpPr>
        <p:spPr>
          <a:xfrm>
            <a:off x="960120" y="3310128"/>
            <a:ext cx="2752344" cy="329184"/>
          </a:xfrm>
          <a:prstGeom prst="rect">
            <a:avLst/>
          </a:prstGeom>
          <a:noFill/>
          <a:ln/>
        </p:spPr>
        <p:txBody>
          <a:bodyPr wrap="square" lIns="0" tIns="0" rIns="0" bIns="0" rtlCol="0" anchor="ctr"/>
          <a:lstStyle/>
          <a:p>
            <a:pPr algn="l" indent="0" marL="0">
              <a:lnSpc>
                <a:spcPts val="1500"/>
              </a:lnSpc>
              <a:buNone/>
            </a:pPr>
            <a:r>
              <a:rPr lang="en-US" sz="1100" dirty="0">
                <a:solidFill>
                  <a:srgbClr val="5A6382"/>
                </a:solidFill>
                <a:latin typeface="Meiryo" pitchFamily="34" charset="0"/>
                <a:ea typeface="Meiryo" pitchFamily="34" charset="-122"/>
                <a:cs typeface="Meiryo" pitchFamily="34" charset="-120"/>
              </a:rPr>
              <a:t>21名が満席のとき</a:t>
            </a:r>
            <a:endParaRPr lang="en-US" sz="1100" dirty="0"/>
          </a:p>
        </p:txBody>
      </p:sp>
      <p:sp>
        <p:nvSpPr>
          <p:cNvPr id="8" name="Text 6"/>
          <p:cNvSpPr txBox="1"/>
          <p:nvPr/>
        </p:nvSpPr>
        <p:spPr>
          <a:xfrm>
            <a:off x="960120" y="3749040"/>
            <a:ext cx="2752344" cy="91440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満席の21名でも、二人分の人件費は出ません。ここで稼ぐ設計にはしていません。</a:t>
            </a:r>
            <a:endParaRPr lang="en-US" sz="1250" dirty="0"/>
          </a:p>
        </p:txBody>
      </p:sp>
      <p:sp>
        <p:nvSpPr>
          <p:cNvPr id="9" name="Shape 7"/>
          <p:cNvSpPr/>
          <p:nvPr/>
        </p:nvSpPr>
        <p:spPr>
          <a:xfrm>
            <a:off x="4398264" y="2011680"/>
            <a:ext cx="3392424" cy="2834640"/>
          </a:xfrm>
          <a:prstGeom prst="roundRect">
            <a:avLst>
              <a:gd name="adj" fmla="val 2581"/>
            </a:avLst>
          </a:prstGeom>
          <a:solidFill>
            <a:srgbClr val="EEF0FA"/>
          </a:solidFill>
          <a:ln w="12700">
            <a:solidFill>
              <a:srgbClr val="4C56B8"/>
            </a:solidFill>
            <a:prstDash val="solid"/>
          </a:ln>
        </p:spPr>
      </p:sp>
      <p:sp>
        <p:nvSpPr>
          <p:cNvPr id="10" name="Text 8"/>
          <p:cNvSpPr txBox="1"/>
          <p:nvPr/>
        </p:nvSpPr>
        <p:spPr>
          <a:xfrm>
            <a:off x="4718304" y="2240280"/>
            <a:ext cx="2752344"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企業向け（本命）</a:t>
            </a:r>
            <a:endParaRPr lang="en-US" sz="1200" dirty="0"/>
          </a:p>
        </p:txBody>
      </p:sp>
      <p:sp>
        <p:nvSpPr>
          <p:cNvPr id="11" name="Text 9"/>
          <p:cNvSpPr txBox="1"/>
          <p:nvPr/>
        </p:nvSpPr>
        <p:spPr>
          <a:xfrm>
            <a:off x="4718304" y="2560320"/>
            <a:ext cx="2752344" cy="777240"/>
          </a:xfrm>
          <a:prstGeom prst="rect">
            <a:avLst/>
          </a:prstGeom>
          <a:noFill/>
          <a:ln/>
        </p:spPr>
        <p:txBody>
          <a:bodyPr wrap="square" lIns="0" tIns="0" rIns="0" bIns="0" rtlCol="0" anchor="ctr"/>
          <a:lstStyle/>
          <a:p>
            <a:pPr algn="l" indent="0" marL="0">
              <a:buNone/>
            </a:pPr>
            <a:r>
              <a:rPr lang="en-US" sz="2600" b="1" dirty="0">
                <a:solidFill>
                  <a:srgbClr val="1A2148"/>
                </a:solidFill>
                <a:latin typeface="Meiryo" pitchFamily="34" charset="0"/>
                <a:ea typeface="Meiryo" pitchFamily="34" charset="-122"/>
                <a:cs typeface="Meiryo" pitchFamily="34" charset="-120"/>
              </a:rPr>
              <a:t>月3〜5万円</a:t>
            </a:r>
            <a:endParaRPr lang="en-US" sz="2600" dirty="0"/>
          </a:p>
        </p:txBody>
      </p:sp>
      <p:sp>
        <p:nvSpPr>
          <p:cNvPr id="12" name="Text 10"/>
          <p:cNvSpPr txBox="1"/>
          <p:nvPr/>
        </p:nvSpPr>
        <p:spPr>
          <a:xfrm>
            <a:off x="4718304" y="3310128"/>
            <a:ext cx="2752344" cy="329184"/>
          </a:xfrm>
          <a:prstGeom prst="rect">
            <a:avLst/>
          </a:prstGeom>
          <a:noFill/>
          <a:ln/>
        </p:spPr>
        <p:txBody>
          <a:bodyPr wrap="square" lIns="0" tIns="0" rIns="0" bIns="0" rtlCol="0" anchor="ctr"/>
          <a:lstStyle/>
          <a:p>
            <a:pPr algn="l" indent="0" marL="0">
              <a:lnSpc>
                <a:spcPts val="1500"/>
              </a:lnSpc>
              <a:buNone/>
            </a:pPr>
            <a:r>
              <a:rPr lang="en-US" sz="1100" dirty="0">
                <a:solidFill>
                  <a:srgbClr val="5A6382"/>
                </a:solidFill>
                <a:latin typeface="Meiryo" pitchFamily="34" charset="0"/>
                <a:ea typeface="Meiryo" pitchFamily="34" charset="-122"/>
                <a:cs typeface="Meiryo" pitchFamily="34" charset="-120"/>
              </a:rPr>
              <a:t>1人あたり × 3〜6か月</a:t>
            </a:r>
            <a:endParaRPr lang="en-US" sz="1100" dirty="0"/>
          </a:p>
        </p:txBody>
      </p:sp>
      <p:sp>
        <p:nvSpPr>
          <p:cNvPr id="13" name="Text 11"/>
          <p:cNvSpPr txBox="1"/>
          <p:nvPr/>
        </p:nvSpPr>
        <p:spPr>
          <a:xfrm>
            <a:off x="4718304" y="3749040"/>
            <a:ext cx="2752344" cy="91440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復職後3〜6か月のサポートとして、企業から受注する。同じ稼働で単価が変わります。</a:t>
            </a:r>
            <a:endParaRPr lang="en-US" sz="1250" dirty="0"/>
          </a:p>
        </p:txBody>
      </p:sp>
      <p:sp>
        <p:nvSpPr>
          <p:cNvPr id="14" name="Shape 12"/>
          <p:cNvSpPr/>
          <p:nvPr/>
        </p:nvSpPr>
        <p:spPr>
          <a:xfrm>
            <a:off x="8156448" y="2011680"/>
            <a:ext cx="3392424" cy="2834640"/>
          </a:xfrm>
          <a:prstGeom prst="roundRect">
            <a:avLst>
              <a:gd name="adj" fmla="val 2581"/>
            </a:avLst>
          </a:prstGeom>
          <a:solidFill>
            <a:srgbClr val="0B1026"/>
          </a:solidFill>
          <a:ln w="12700">
            <a:solidFill>
              <a:srgbClr val="0B1026"/>
            </a:solidFill>
            <a:prstDash val="solid"/>
          </a:ln>
        </p:spPr>
      </p:sp>
      <p:sp>
        <p:nvSpPr>
          <p:cNvPr id="15" name="Text 13"/>
          <p:cNvSpPr txBox="1"/>
          <p:nvPr/>
        </p:nvSpPr>
        <p:spPr>
          <a:xfrm>
            <a:off x="8430768" y="2926080"/>
            <a:ext cx="2843784" cy="822960"/>
          </a:xfrm>
          <a:prstGeom prst="rect">
            <a:avLst/>
          </a:prstGeom>
          <a:noFill/>
          <a:ln/>
        </p:spPr>
        <p:txBody>
          <a:bodyPr wrap="square" lIns="0" tIns="0" rIns="0" bIns="0" rtlCol="0" anchor="ctr"/>
          <a:lstStyle/>
          <a:p>
            <a:pPr algn="ctr" indent="0" marL="0">
              <a:buNone/>
            </a:pPr>
            <a:r>
              <a:rPr lang="en-US" sz="4000" b="1" dirty="0">
                <a:solidFill>
                  <a:srgbClr val="FCD34D"/>
                </a:solidFill>
                <a:latin typeface="Meiryo" pitchFamily="34" charset="0"/>
                <a:ea typeface="Meiryo" pitchFamily="34" charset="-122"/>
                <a:cs typeface="Meiryo" pitchFamily="34" charset="-120"/>
              </a:rPr>
              <a:t>約7倍</a:t>
            </a:r>
            <a:endParaRPr lang="en-US" sz="4000" dirty="0"/>
          </a:p>
        </p:txBody>
      </p:sp>
      <p:sp>
        <p:nvSpPr>
          <p:cNvPr id="16" name="Text 14"/>
          <p:cNvSpPr txBox="1"/>
          <p:nvPr/>
        </p:nvSpPr>
        <p:spPr>
          <a:xfrm>
            <a:off x="8430768" y="3794760"/>
            <a:ext cx="2843784" cy="320040"/>
          </a:xfrm>
          <a:prstGeom prst="rect">
            <a:avLst/>
          </a:prstGeom>
          <a:noFill/>
          <a:ln/>
        </p:spPr>
        <p:txBody>
          <a:bodyPr wrap="square" lIns="0" tIns="0" rIns="0" bIns="0" rtlCol="0" anchor="ctr"/>
          <a:lstStyle/>
          <a:p>
            <a:pPr algn="ctr" indent="0" marL="0">
              <a:buNone/>
            </a:pPr>
            <a:r>
              <a:rPr lang="en-US" sz="1100" dirty="0">
                <a:solidFill>
                  <a:srgbClr val="B9C0DC"/>
                </a:solidFill>
                <a:latin typeface="Meiryo" pitchFamily="34" charset="0"/>
                <a:ea typeface="Meiryo" pitchFamily="34" charset="-122"/>
                <a:cs typeface="Meiryo" pitchFamily="34" charset="-120"/>
              </a:rPr>
              <a:t>同じ稼働あたりの単価</a:t>
            </a:r>
            <a:endParaRPr lang="en-US" sz="1100" dirty="0"/>
          </a:p>
        </p:txBody>
      </p:sp>
      <p:sp>
        <p:nvSpPr>
          <p:cNvPr id="17" name="Text 15"/>
          <p:cNvSpPr txBox="1"/>
          <p:nvPr/>
        </p:nvSpPr>
        <p:spPr>
          <a:xfrm>
            <a:off x="640080" y="5120640"/>
            <a:ext cx="10911535" cy="548640"/>
          </a:xfrm>
          <a:prstGeom prst="rect">
            <a:avLst/>
          </a:prstGeom>
          <a:noFill/>
          <a:ln/>
        </p:spPr>
        <p:txBody>
          <a:bodyPr wrap="square" lIns="0" tIns="0" rIns="0" bIns="0" rtlCol="0" anchor="t"/>
          <a:lstStyle/>
          <a:p>
            <a:pPr indent="0" marL="0">
              <a:lnSpc>
                <a:spcPts val="2200"/>
              </a:lnSpc>
              <a:buNone/>
            </a:pPr>
            <a:r>
              <a:rPr lang="en-US" sz="1300" b="1" dirty="0">
                <a:solidFill>
                  <a:srgbClr val="1A2148"/>
                </a:solidFill>
                <a:latin typeface="Meiryo" pitchFamily="34" charset="0"/>
                <a:ea typeface="Meiryo" pitchFamily="34" charset="-122"/>
                <a:cs typeface="Meiryo" pitchFamily="34" charset="-120"/>
              </a:rPr>
              <a:t>個人有料版の役割は「お金を払ってでも続けたい人がいる」という実績づくりです。ここは正直にお伝えしておきます。</a:t>
            </a:r>
            <a:endParaRPr lang="en-US" sz="1300" dirty="0"/>
          </a:p>
        </p:txBody>
      </p:sp>
      <p:sp>
        <p:nvSpPr>
          <p:cNvPr id="18" name="Text 16"/>
          <p:cNvSpPr txBox="1"/>
          <p:nvPr/>
        </p:nvSpPr>
        <p:spPr>
          <a:xfrm>
            <a:off x="640080" y="5742432"/>
            <a:ext cx="10911535" cy="310896"/>
          </a:xfrm>
          <a:prstGeom prst="rect">
            <a:avLst/>
          </a:prstGeom>
          <a:noFill/>
          <a:ln/>
        </p:spPr>
        <p:txBody>
          <a:bodyPr wrap="square" lIns="0" tIns="0" rIns="0" bIns="0" rtlCol="0" anchor="ctr"/>
          <a:lstStyle/>
          <a:p>
            <a:pPr indent="0" marL="0">
              <a:lnSpc>
                <a:spcPts val="1600"/>
              </a:lnSpc>
              <a:buNone/>
            </a:pPr>
            <a:r>
              <a:rPr lang="en-US" sz="1100" dirty="0">
                <a:solidFill>
                  <a:srgbClr val="5A6382"/>
                </a:solidFill>
                <a:latin typeface="Meiryo" pitchFamily="34" charset="0"/>
                <a:ea typeface="Meiryo" pitchFamily="34" charset="-122"/>
                <a:cs typeface="Meiryo" pitchFamily="34" charset="-120"/>
              </a:rPr>
              <a:t>出典：事業計画（docs/business-plan-return-to-work.md）</a:t>
            </a:r>
            <a:endParaRPr lang="en-US" sz="1100" dirty="0"/>
          </a:p>
        </p:txBody>
      </p:sp>
      <p:sp>
        <p:nvSpPr>
          <p:cNvPr id="19" name="Text 17"/>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企業には、何を見せるのか？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症状スコアではなく「休まずに働き続けられたか」</a:t>
            </a:r>
            <a:endParaRPr lang="en-US" sz="3000" dirty="0"/>
          </a:p>
        </p:txBody>
      </p:sp>
      <p:sp>
        <p:nvSpPr>
          <p:cNvPr id="4" name="Shape 2"/>
          <p:cNvSpPr/>
          <p:nvPr/>
        </p:nvSpPr>
        <p:spPr>
          <a:xfrm>
            <a:off x="640080" y="2011680"/>
            <a:ext cx="5250028" cy="2697480"/>
          </a:xfrm>
          <a:prstGeom prst="roundRect">
            <a:avLst>
              <a:gd name="adj" fmla="val 2712"/>
            </a:avLst>
          </a:prstGeom>
          <a:solidFill>
            <a:srgbClr val="EEF0FA"/>
          </a:solidFill>
          <a:ln w="12700">
            <a:solidFill>
              <a:srgbClr val="4C56B8"/>
            </a:solidFill>
            <a:prstDash val="solid"/>
          </a:ln>
        </p:spPr>
      </p:sp>
      <p:sp>
        <p:nvSpPr>
          <p:cNvPr id="5" name="Text 3"/>
          <p:cNvSpPr txBox="1"/>
          <p:nvPr/>
        </p:nvSpPr>
        <p:spPr>
          <a:xfrm>
            <a:off x="960120" y="2267712"/>
            <a:ext cx="4609948"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主役にする指標</a:t>
            </a:r>
            <a:endParaRPr lang="en-US" sz="1200" dirty="0"/>
          </a:p>
        </p:txBody>
      </p:sp>
      <p:sp>
        <p:nvSpPr>
          <p:cNvPr id="6" name="Text 4"/>
          <p:cNvSpPr txBox="1"/>
          <p:nvPr/>
        </p:nvSpPr>
        <p:spPr>
          <a:xfrm>
            <a:off x="960120" y="2670048"/>
            <a:ext cx="4609948" cy="1143000"/>
          </a:xfrm>
          <a:prstGeom prst="rect">
            <a:avLst/>
          </a:prstGeom>
          <a:noFill/>
          <a:ln/>
        </p:spPr>
        <p:txBody>
          <a:bodyPr wrap="square" lIns="0" tIns="0" rIns="0" bIns="0" rtlCol="0" anchor="ctr"/>
          <a:lstStyle/>
          <a:p>
            <a:pPr marL="342900" indent="-342900">
              <a:lnSpc>
                <a:spcPts val="2000"/>
              </a:lnSpc>
              <a:spcAft>
                <a:spcPts val="600"/>
              </a:spcAft>
              <a:buSzPct val="100000"/>
              <a:buChar char="•"/>
            </a:pPr>
            <a:r>
              <a:rPr lang="en-US" sz="1400" dirty="0">
                <a:solidFill>
                  <a:srgbClr val="1A2148"/>
                </a:solidFill>
                <a:latin typeface="Meiryo" pitchFamily="34" charset="0"/>
                <a:ea typeface="Meiryo" pitchFamily="34" charset="-122"/>
                <a:cs typeface="Meiryo" pitchFamily="34" charset="-120"/>
              </a:rPr>
              <a:t>勤怠（休まずに働き続けられたか）</a:t>
            </a:r>
            <a:endParaRPr lang="en-US" sz="1400" dirty="0"/>
          </a:p>
          <a:p>
            <a:pPr marL="342900" indent="-342900">
              <a:lnSpc>
                <a:spcPts val="2000"/>
              </a:lnSpc>
              <a:spcAft>
                <a:spcPts val="600"/>
              </a:spcAft>
              <a:buSzPct val="100000"/>
              <a:buChar char="•"/>
            </a:pPr>
            <a:r>
              <a:rPr lang="en-US" sz="1400" dirty="0">
                <a:solidFill>
                  <a:srgbClr val="1A2148"/>
                </a:solidFill>
                <a:latin typeface="Meiryo" pitchFamily="34" charset="0"/>
                <a:ea typeface="Meiryo" pitchFamily="34" charset="-122"/>
                <a:cs typeface="Meiryo" pitchFamily="34" charset="-120"/>
              </a:rPr>
              <a:t>仕事のパフォーマンス</a:t>
            </a:r>
            <a:endParaRPr lang="en-US" sz="1400" dirty="0"/>
          </a:p>
          <a:p>
            <a:pPr marL="342900" indent="-342900">
              <a:lnSpc>
                <a:spcPts val="2000"/>
              </a:lnSpc>
              <a:spcAft>
                <a:spcPts val="600"/>
              </a:spcAft>
              <a:buSzPct val="100000"/>
              <a:buChar char="•"/>
            </a:pPr>
            <a:r>
              <a:rPr lang="en-US" sz="1400" dirty="0">
                <a:solidFill>
                  <a:srgbClr val="1A2148"/>
                </a:solidFill>
                <a:latin typeface="Meiryo" pitchFamily="34" charset="0"/>
                <a:ea typeface="Meiryo" pitchFamily="34" charset="-122"/>
                <a:cs typeface="Meiryo" pitchFamily="34" charset="-120"/>
              </a:rPr>
              <a:t>活力</a:t>
            </a:r>
            <a:endParaRPr lang="en-US" sz="1400" dirty="0"/>
          </a:p>
        </p:txBody>
      </p:sp>
      <p:sp>
        <p:nvSpPr>
          <p:cNvPr id="7" name="Text 5"/>
          <p:cNvSpPr txBox="1"/>
          <p:nvPr/>
        </p:nvSpPr>
        <p:spPr>
          <a:xfrm>
            <a:off x="960120" y="3977640"/>
            <a:ext cx="4609948" cy="640080"/>
          </a:xfrm>
          <a:prstGeom prst="rect">
            <a:avLst/>
          </a:prstGeom>
          <a:noFill/>
          <a:ln/>
        </p:spPr>
        <p:txBody>
          <a:bodyPr wrap="square" lIns="0" tIns="0" rIns="0" bIns="0" rtlCol="0" anchor="t"/>
          <a:lstStyle/>
          <a:p>
            <a:pPr indent="0" marL="0">
              <a:lnSpc>
                <a:spcPts val="2200"/>
              </a:lnSpc>
              <a:buNone/>
            </a:pPr>
            <a:r>
              <a:rPr lang="en-US" sz="1200" dirty="0">
                <a:solidFill>
                  <a:srgbClr val="5A6382"/>
                </a:solidFill>
                <a:latin typeface="Meiryo" pitchFamily="34" charset="0"/>
                <a:ea typeface="Meiryo" pitchFamily="34" charset="-122"/>
                <a:cs typeface="Meiryo" pitchFamily="34" charset="-120"/>
              </a:rPr>
              <a:t>企業が見ているのは、症状の点数ではなく、働き続けられたかどうか。</a:t>
            </a:r>
            <a:endParaRPr lang="en-US" sz="1200" dirty="0"/>
          </a:p>
        </p:txBody>
      </p:sp>
      <p:sp>
        <p:nvSpPr>
          <p:cNvPr id="8" name="Shape 6"/>
          <p:cNvSpPr/>
          <p:nvPr/>
        </p:nvSpPr>
        <p:spPr>
          <a:xfrm>
            <a:off x="6301588" y="2011680"/>
            <a:ext cx="5250028" cy="2697480"/>
          </a:xfrm>
          <a:prstGeom prst="roundRect">
            <a:avLst>
              <a:gd name="adj" fmla="val 2712"/>
            </a:avLst>
          </a:prstGeom>
          <a:solidFill>
            <a:srgbClr val="F2F4FB"/>
          </a:solidFill>
          <a:ln w="12700">
            <a:solidFill>
              <a:srgbClr val="D9DDEE"/>
            </a:solidFill>
            <a:prstDash val="solid"/>
          </a:ln>
        </p:spPr>
      </p:sp>
      <p:sp>
        <p:nvSpPr>
          <p:cNvPr id="9" name="Text 7"/>
          <p:cNvSpPr txBox="1"/>
          <p:nvPr/>
        </p:nvSpPr>
        <p:spPr>
          <a:xfrm>
            <a:off x="6621628" y="2267712"/>
            <a:ext cx="4609948" cy="274320"/>
          </a:xfrm>
          <a:prstGeom prst="rect">
            <a:avLst/>
          </a:prstGeom>
          <a:noFill/>
          <a:ln/>
        </p:spPr>
        <p:txBody>
          <a:bodyPr wrap="square" lIns="0" tIns="0" rIns="0" bIns="0" rtlCol="0" anchor="ctr"/>
          <a:lstStyle/>
          <a:p>
            <a:pPr indent="0" marL="0">
              <a:buNone/>
            </a:pPr>
            <a:r>
              <a:rPr lang="en-US" sz="1200" b="1" dirty="0">
                <a:solidFill>
                  <a:srgbClr val="5A6382"/>
                </a:solidFill>
                <a:latin typeface="Meiryo" pitchFamily="34" charset="0"/>
                <a:ea typeface="Meiryo" pitchFamily="34" charset="-122"/>
                <a:cs typeface="Meiryo" pitchFamily="34" charset="-120"/>
              </a:rPr>
              <a:t>書き方は、誠実に</a:t>
            </a:r>
            <a:endParaRPr lang="en-US" sz="1200" dirty="0"/>
          </a:p>
        </p:txBody>
      </p:sp>
      <p:sp>
        <p:nvSpPr>
          <p:cNvPr id="10" name="Text 8"/>
          <p:cNvSpPr txBox="1"/>
          <p:nvPr/>
        </p:nvSpPr>
        <p:spPr>
          <a:xfrm>
            <a:off x="6621628" y="2670048"/>
            <a:ext cx="4609948" cy="1143000"/>
          </a:xfrm>
          <a:prstGeom prst="rect">
            <a:avLst/>
          </a:prstGeom>
          <a:noFill/>
          <a:ln/>
        </p:spPr>
        <p:txBody>
          <a:bodyPr wrap="square" lIns="0" tIns="0" rIns="0" bIns="0" rtlCol="0" anchor="ctr"/>
          <a:lstStyle/>
          <a:p>
            <a:pPr marL="342900" indent="-342900">
              <a:lnSpc>
                <a:spcPts val="2000"/>
              </a:lnSpc>
              <a:spcAft>
                <a:spcPts val="600"/>
              </a:spcAft>
              <a:buSzPct val="100000"/>
              <a:buChar char="•"/>
            </a:pPr>
            <a:r>
              <a:rPr lang="en-US" sz="1400" dirty="0">
                <a:solidFill>
                  <a:srgbClr val="1A2148"/>
                </a:solidFill>
                <a:latin typeface="Meiryo" pitchFamily="34" charset="0"/>
                <a:ea typeface="Meiryo" pitchFamily="34" charset="-122"/>
                <a:cs typeface="Meiryo" pitchFamily="34" charset="-120"/>
              </a:rPr>
              <a:t>「効果があった」とは書かない</a:t>
            </a:r>
            <a:endParaRPr lang="en-US" sz="1400" dirty="0"/>
          </a:p>
          <a:p>
            <a:pPr marL="342900" indent="-342900">
              <a:lnSpc>
                <a:spcPts val="2000"/>
              </a:lnSpc>
              <a:spcAft>
                <a:spcPts val="600"/>
              </a:spcAft>
              <a:buSzPct val="100000"/>
              <a:buChar char="•"/>
            </a:pPr>
            <a:r>
              <a:rPr lang="en-US" sz="1400" dirty="0">
                <a:solidFill>
                  <a:srgbClr val="1A2148"/>
                </a:solidFill>
                <a:latin typeface="Meiryo" pitchFamily="34" charset="0"/>
                <a:ea typeface="Meiryo" pitchFamily="34" charset="-122"/>
                <a:cs typeface="Meiryo" pitchFamily="34" charset="-120"/>
              </a:rPr>
              <a:t>「参加者の変化」までを出す</a:t>
            </a:r>
            <a:endParaRPr lang="en-US" sz="1400" dirty="0"/>
          </a:p>
          <a:p>
            <a:pPr marL="342900" indent="-342900">
              <a:lnSpc>
                <a:spcPts val="2000"/>
              </a:lnSpc>
              <a:spcAft>
                <a:spcPts val="600"/>
              </a:spcAft>
              <a:buSzPct val="100000"/>
              <a:buChar char="•"/>
            </a:pPr>
            <a:r>
              <a:rPr lang="en-US" sz="1400" dirty="0">
                <a:solidFill>
                  <a:srgbClr val="1A2148"/>
                </a:solidFill>
                <a:latin typeface="Meiryo" pitchFamily="34" charset="0"/>
                <a:ea typeface="Meiryo" pitchFamily="34" charset="-122"/>
                <a:cs typeface="Meiryo" pitchFamily="34" charset="-120"/>
              </a:rPr>
              <a:t>「完走率」までを参考データとして出す</a:t>
            </a:r>
            <a:endParaRPr lang="en-US" sz="1400" dirty="0"/>
          </a:p>
        </p:txBody>
      </p:sp>
      <p:sp>
        <p:nvSpPr>
          <p:cNvPr id="11" name="Text 9"/>
          <p:cNvSpPr txBox="1"/>
          <p:nvPr/>
        </p:nvSpPr>
        <p:spPr>
          <a:xfrm>
            <a:off x="6621628" y="3977640"/>
            <a:ext cx="4609948" cy="640080"/>
          </a:xfrm>
          <a:prstGeom prst="rect">
            <a:avLst/>
          </a:prstGeom>
          <a:noFill/>
          <a:ln/>
        </p:spPr>
        <p:txBody>
          <a:bodyPr wrap="square" lIns="0" tIns="0" rIns="0" bIns="0" rtlCol="0" anchor="t"/>
          <a:lstStyle/>
          <a:p>
            <a:pPr indent="0" marL="0">
              <a:lnSpc>
                <a:spcPts val="2200"/>
              </a:lnSpc>
              <a:buNone/>
            </a:pPr>
            <a:r>
              <a:rPr lang="en-US" sz="1200" dirty="0">
                <a:solidFill>
                  <a:srgbClr val="5A6382"/>
                </a:solidFill>
                <a:latin typeface="Meiryo" pitchFamily="34" charset="0"/>
                <a:ea typeface="Meiryo" pitchFamily="34" charset="-122"/>
                <a:cs typeface="Meiryo" pitchFamily="34" charset="-120"/>
              </a:rPr>
              <a:t>言い切らないことが、結果として企業に信用される見せ方だと考えています。</a:t>
            </a:r>
            <a:endParaRPr lang="en-US" sz="1200" dirty="0"/>
          </a:p>
        </p:txBody>
      </p:sp>
      <p:sp>
        <p:nvSpPr>
          <p:cNvPr id="12" name="Shape 10"/>
          <p:cNvSpPr/>
          <p:nvPr/>
        </p:nvSpPr>
        <p:spPr>
          <a:xfrm>
            <a:off x="640080" y="4983480"/>
            <a:ext cx="10911535" cy="822960"/>
          </a:xfrm>
          <a:prstGeom prst="roundRect">
            <a:avLst>
              <a:gd name="adj" fmla="val 8889"/>
            </a:avLst>
          </a:prstGeom>
          <a:solidFill>
            <a:srgbClr val="F2F4FB"/>
          </a:solidFill>
          <a:ln w="12700">
            <a:solidFill>
              <a:srgbClr val="D9DDEE"/>
            </a:solidFill>
            <a:prstDash val="solid"/>
          </a:ln>
        </p:spPr>
      </p:sp>
      <p:sp>
        <p:nvSpPr>
          <p:cNvPr id="13" name="Text 11"/>
          <p:cNvSpPr txBox="1"/>
          <p:nvPr/>
        </p:nvSpPr>
        <p:spPr>
          <a:xfrm>
            <a:off x="960120" y="5193792"/>
            <a:ext cx="10271455" cy="457200"/>
          </a:xfrm>
          <a:prstGeom prst="rect">
            <a:avLst/>
          </a:prstGeom>
          <a:noFill/>
          <a:ln/>
        </p:spPr>
        <p:txBody>
          <a:bodyPr wrap="square" lIns="0" tIns="0" rIns="0" bIns="0" rtlCol="0" anchor="t"/>
          <a:lstStyle/>
          <a:p>
            <a:pPr indent="0" marL="0">
              <a:lnSpc>
                <a:spcPts val="2200"/>
              </a:lnSpc>
              <a:buNone/>
            </a:pPr>
            <a:r>
              <a:rPr lang="en-US" sz="1250" dirty="0">
                <a:solidFill>
                  <a:srgbClr val="1A2148"/>
                </a:solidFill>
                <a:latin typeface="Meiryo" pitchFamily="34" charset="0"/>
                <a:ea typeface="Meiryo" pitchFamily="34" charset="-122"/>
                <a:cs typeface="Meiryo" pitchFamily="34" charset="-120"/>
              </a:rPr>
              <a:t>既存6法人・137事業所の就労定着支援（復職後6か月〜3年6か月）の枠に、夜間・休日オプションとして乗せられる形を想定しています。</a:t>
            </a:r>
            <a:endParaRPr lang="en-US" sz="125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伊藤さんに、何をお願いしたいのか？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夜の運動と疲労回復、そして個人向けが始まってからの接点づくり</a:t>
            </a:r>
            <a:endParaRPr lang="en-US" sz="3000" dirty="0"/>
          </a:p>
        </p:txBody>
      </p:sp>
      <p:sp>
        <p:nvSpPr>
          <p:cNvPr id="4" name="Shape 2"/>
          <p:cNvSpPr/>
          <p:nvPr/>
        </p:nvSpPr>
        <p:spPr>
          <a:xfrm>
            <a:off x="640080" y="2011680"/>
            <a:ext cx="5250028" cy="2514600"/>
          </a:xfrm>
          <a:prstGeom prst="roundRect">
            <a:avLst>
              <a:gd name="adj" fmla="val 2909"/>
            </a:avLst>
          </a:prstGeom>
          <a:solidFill>
            <a:srgbClr val="FFF7E0"/>
          </a:solidFill>
          <a:ln w="12700">
            <a:solidFill>
              <a:srgbClr val="B8860B"/>
            </a:solidFill>
            <a:prstDash val="solid"/>
          </a:ln>
        </p:spPr>
      </p:sp>
      <p:sp>
        <p:nvSpPr>
          <p:cNvPr id="5" name="Text 3"/>
          <p:cNvSpPr txBox="1"/>
          <p:nvPr/>
        </p:nvSpPr>
        <p:spPr>
          <a:xfrm>
            <a:off x="960120" y="2240280"/>
            <a:ext cx="4609948" cy="274320"/>
          </a:xfrm>
          <a:prstGeom prst="rect">
            <a:avLst/>
          </a:prstGeom>
          <a:noFill/>
          <a:ln/>
        </p:spPr>
        <p:txBody>
          <a:bodyPr wrap="square" lIns="0" tIns="0" rIns="0" bIns="0" rtlCol="0" anchor="ctr"/>
          <a:lstStyle/>
          <a:p>
            <a:pPr indent="0" marL="0">
              <a:buNone/>
            </a:pPr>
            <a:r>
              <a:rPr lang="en-US" sz="1200" b="1" dirty="0">
                <a:solidFill>
                  <a:srgbClr val="B8860B"/>
                </a:solidFill>
                <a:latin typeface="Meiryo" pitchFamily="34" charset="0"/>
                <a:ea typeface="Meiryo" pitchFamily="34" charset="-122"/>
                <a:cs typeface="Meiryo" pitchFamily="34" charset="-120"/>
              </a:rPr>
              <a:t>① 今から（試運転から）</a:t>
            </a:r>
            <a:endParaRPr lang="en-US" sz="1200" dirty="0"/>
          </a:p>
        </p:txBody>
      </p:sp>
      <p:sp>
        <p:nvSpPr>
          <p:cNvPr id="6" name="Text 4"/>
          <p:cNvSpPr txBox="1"/>
          <p:nvPr/>
        </p:nvSpPr>
        <p:spPr>
          <a:xfrm>
            <a:off x="960120" y="2606040"/>
            <a:ext cx="4609948" cy="685800"/>
          </a:xfrm>
          <a:prstGeom prst="rect">
            <a:avLst/>
          </a:prstGeom>
          <a:noFill/>
          <a:ln/>
        </p:spPr>
        <p:txBody>
          <a:bodyPr wrap="square" lIns="0" tIns="0" rIns="0" bIns="0" rtlCol="0" anchor="t"/>
          <a:lstStyle/>
          <a:p>
            <a:pPr indent="0" marL="0">
              <a:lnSpc>
                <a:spcPts val="2600"/>
              </a:lnSpc>
              <a:buNone/>
            </a:pPr>
            <a:r>
              <a:rPr lang="en-US" sz="1800" b="1" dirty="0">
                <a:solidFill>
                  <a:srgbClr val="1A2148"/>
                </a:solidFill>
                <a:latin typeface="Meiryo" pitchFamily="34" charset="0"/>
                <a:ea typeface="Meiryo" pitchFamily="34" charset="-122"/>
                <a:cs typeface="Meiryo" pitchFamily="34" charset="-120"/>
              </a:rPr>
              <a:t>火・木の夜運動と</a:t>
            </a:r>
            <a:endParaRPr lang="en-US" sz="1800" dirty="0"/>
          </a:p>
          <a:p>
            <a:pPr indent="0" marL="0">
              <a:lnSpc>
                <a:spcPts val="2600"/>
              </a:lnSpc>
              <a:buNone/>
            </a:pPr>
            <a:r>
              <a:rPr lang="en-US" sz="1800" b="1" dirty="0">
                <a:solidFill>
                  <a:srgbClr val="1A2148"/>
                </a:solidFill>
                <a:latin typeface="Meiryo" pitchFamily="34" charset="0"/>
                <a:ea typeface="Meiryo" pitchFamily="34" charset="-122"/>
                <a:cs typeface="Meiryo" pitchFamily="34" charset="-120"/>
              </a:rPr>
              <a:t>日曜の疲労回復パート</a:t>
            </a:r>
            <a:endParaRPr lang="en-US" sz="1800" dirty="0"/>
          </a:p>
        </p:txBody>
      </p:sp>
      <p:sp>
        <p:nvSpPr>
          <p:cNvPr id="7" name="Text 5"/>
          <p:cNvSpPr txBox="1"/>
          <p:nvPr/>
        </p:nvSpPr>
        <p:spPr>
          <a:xfrm>
            <a:off x="960120" y="3566160"/>
            <a:ext cx="4609948" cy="77724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運動指導の専門性は、伊藤さんにしかない部分です。ここは一緒にやっていきたいです。</a:t>
            </a:r>
            <a:endParaRPr lang="en-US" sz="1250" dirty="0"/>
          </a:p>
        </p:txBody>
      </p:sp>
      <p:sp>
        <p:nvSpPr>
          <p:cNvPr id="8" name="Shape 6"/>
          <p:cNvSpPr/>
          <p:nvPr/>
        </p:nvSpPr>
        <p:spPr>
          <a:xfrm>
            <a:off x="6301588" y="2011680"/>
            <a:ext cx="5250028" cy="2514600"/>
          </a:xfrm>
          <a:prstGeom prst="roundRect">
            <a:avLst>
              <a:gd name="adj" fmla="val 2909"/>
            </a:avLst>
          </a:prstGeom>
          <a:solidFill>
            <a:srgbClr val="F2F4FB"/>
          </a:solidFill>
          <a:ln w="12700">
            <a:solidFill>
              <a:srgbClr val="D9DDEE"/>
            </a:solidFill>
            <a:prstDash val="solid"/>
          </a:ln>
        </p:spPr>
      </p:sp>
      <p:sp>
        <p:nvSpPr>
          <p:cNvPr id="9" name="Text 7"/>
          <p:cNvSpPr txBox="1"/>
          <p:nvPr/>
        </p:nvSpPr>
        <p:spPr>
          <a:xfrm>
            <a:off x="6621628" y="2240280"/>
            <a:ext cx="4609948"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② 2027年7月ごろから</a:t>
            </a:r>
            <a:endParaRPr lang="en-US" sz="1200" dirty="0"/>
          </a:p>
        </p:txBody>
      </p:sp>
      <p:sp>
        <p:nvSpPr>
          <p:cNvPr id="10" name="Text 8"/>
          <p:cNvSpPr txBox="1"/>
          <p:nvPr/>
        </p:nvSpPr>
        <p:spPr>
          <a:xfrm>
            <a:off x="6621628" y="2606040"/>
            <a:ext cx="4609948" cy="685800"/>
          </a:xfrm>
          <a:prstGeom prst="rect">
            <a:avLst/>
          </a:prstGeom>
          <a:noFill/>
          <a:ln/>
        </p:spPr>
        <p:txBody>
          <a:bodyPr wrap="square" lIns="0" tIns="0" rIns="0" bIns="0" rtlCol="0" anchor="t"/>
          <a:lstStyle/>
          <a:p>
            <a:pPr indent="0" marL="0">
              <a:lnSpc>
                <a:spcPts val="2600"/>
              </a:lnSpc>
              <a:buNone/>
            </a:pPr>
            <a:r>
              <a:rPr lang="en-US" sz="1800" b="1" dirty="0">
                <a:solidFill>
                  <a:srgbClr val="1A2148"/>
                </a:solidFill>
                <a:latin typeface="Meiryo" pitchFamily="34" charset="0"/>
                <a:ea typeface="Meiryo" pitchFamily="34" charset="-122"/>
                <a:cs typeface="Meiryo" pitchFamily="34" charset="-120"/>
              </a:rPr>
              <a:t>企業・支援機関への</a:t>
            </a:r>
            <a:endParaRPr lang="en-US" sz="1800" dirty="0"/>
          </a:p>
          <a:p>
            <a:pPr indent="0" marL="0">
              <a:lnSpc>
                <a:spcPts val="2600"/>
              </a:lnSpc>
              <a:buNone/>
            </a:pPr>
            <a:r>
              <a:rPr lang="en-US" sz="1800" b="1" dirty="0">
                <a:solidFill>
                  <a:srgbClr val="1A2148"/>
                </a:solidFill>
                <a:latin typeface="Meiryo" pitchFamily="34" charset="0"/>
                <a:ea typeface="Meiryo" pitchFamily="34" charset="-122"/>
                <a:cs typeface="Meiryo" pitchFamily="34" charset="-120"/>
              </a:rPr>
              <a:t>接点づくり</a:t>
            </a:r>
            <a:endParaRPr lang="en-US" sz="1800" dirty="0"/>
          </a:p>
        </p:txBody>
      </p:sp>
      <p:sp>
        <p:nvSpPr>
          <p:cNvPr id="11" name="Text 9"/>
          <p:cNvSpPr txBox="1"/>
          <p:nvPr/>
        </p:nvSpPr>
        <p:spPr>
          <a:xfrm>
            <a:off x="6621628" y="3566160"/>
            <a:ext cx="4609948" cy="77724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既存の6法人・137事業所との関係、支援機関へのパイプは一番の武器です。私も一緒に動きます。</a:t>
            </a:r>
            <a:endParaRPr lang="en-US" sz="1250" dirty="0"/>
          </a:p>
        </p:txBody>
      </p:sp>
      <p:sp>
        <p:nvSpPr>
          <p:cNvPr id="12" name="Shape 10"/>
          <p:cNvSpPr/>
          <p:nvPr/>
        </p:nvSpPr>
        <p:spPr>
          <a:xfrm>
            <a:off x="640080" y="4800600"/>
            <a:ext cx="10911535" cy="960120"/>
          </a:xfrm>
          <a:prstGeom prst="roundRect">
            <a:avLst>
              <a:gd name="adj" fmla="val 7619"/>
            </a:avLst>
          </a:prstGeom>
          <a:solidFill>
            <a:srgbClr val="EEF0FA"/>
          </a:solidFill>
          <a:ln w="12700">
            <a:solidFill>
              <a:srgbClr val="C9CFEA"/>
            </a:solidFill>
            <a:prstDash val="solid"/>
          </a:ln>
        </p:spPr>
      </p:sp>
      <p:sp>
        <p:nvSpPr>
          <p:cNvPr id="13" name="Text 11"/>
          <p:cNvSpPr txBox="1"/>
          <p:nvPr/>
        </p:nvSpPr>
        <p:spPr>
          <a:xfrm>
            <a:off x="960120" y="5010912"/>
            <a:ext cx="10271455" cy="594360"/>
          </a:xfrm>
          <a:prstGeom prst="rect">
            <a:avLst/>
          </a:prstGeom>
          <a:noFill/>
          <a:ln/>
        </p:spPr>
        <p:txBody>
          <a:bodyPr wrap="square" lIns="0" tIns="0" rIns="0" bIns="0" rtlCol="0" anchor="t"/>
          <a:lstStyle/>
          <a:p>
            <a:pPr indent="0" marL="0">
              <a:lnSpc>
                <a:spcPts val="2000"/>
              </a:lnSpc>
              <a:buNone/>
            </a:pPr>
            <a:r>
              <a:rPr lang="en-US" sz="1250" dirty="0">
                <a:solidFill>
                  <a:srgbClr val="1A2148"/>
                </a:solidFill>
                <a:latin typeface="Meiryo" pitchFamily="34" charset="0"/>
                <a:ea typeface="Meiryo" pitchFamily="34" charset="-122"/>
                <a:cs typeface="Meiryo" pitchFamily="34" charset="-120"/>
              </a:rPr>
              <a:t>法人営業は、個人向け有料サービスが始まってから始めます。試運転や本編の段階で、伊藤さんのつながりを先に使うことはしません。いつ・どう使うかは、伊藤さんご自身が決められる状態を保ちます。</a:t>
            </a:r>
            <a:endParaRPr lang="en-US" sz="125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伊藤さんの負担は、どれくらいか？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21名の本編でも週2時間。試運転は、もっと小さい</a:t>
            </a:r>
            <a:endParaRPr lang="en-US" sz="3000" dirty="0"/>
          </a:p>
        </p:txBody>
      </p:sp>
      <p:sp>
        <p:nvSpPr>
          <p:cNvPr id="4" name="Shape 2"/>
          <p:cNvSpPr/>
          <p:nvPr/>
        </p:nvSpPr>
        <p:spPr>
          <a:xfrm>
            <a:off x="640080" y="2011680"/>
            <a:ext cx="3566160" cy="2286000"/>
          </a:xfrm>
          <a:prstGeom prst="roundRect">
            <a:avLst>
              <a:gd name="adj" fmla="val 3200"/>
            </a:avLst>
          </a:prstGeom>
          <a:solidFill>
            <a:srgbClr val="0B1026"/>
          </a:solidFill>
          <a:ln w="12700">
            <a:solidFill>
              <a:srgbClr val="0B1026"/>
            </a:solidFill>
            <a:prstDash val="solid"/>
          </a:ln>
        </p:spPr>
      </p:sp>
      <p:sp>
        <p:nvSpPr>
          <p:cNvPr id="5" name="Text 3"/>
          <p:cNvSpPr txBox="1"/>
          <p:nvPr/>
        </p:nvSpPr>
        <p:spPr>
          <a:xfrm>
            <a:off x="914400" y="2743200"/>
            <a:ext cx="301752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Meiryo" pitchFamily="34" charset="0"/>
                <a:ea typeface="Meiryo" pitchFamily="34" charset="-122"/>
                <a:cs typeface="Meiryo" pitchFamily="34" charset="-120"/>
              </a:rPr>
              <a:t>週 約2時間</a:t>
            </a:r>
            <a:endParaRPr lang="en-US" sz="3400" dirty="0"/>
          </a:p>
        </p:txBody>
      </p:sp>
      <p:sp>
        <p:nvSpPr>
          <p:cNvPr id="6" name="Text 4"/>
          <p:cNvSpPr txBox="1"/>
          <p:nvPr/>
        </p:nvSpPr>
        <p:spPr>
          <a:xfrm>
            <a:off x="914400" y="3566160"/>
            <a:ext cx="3017520" cy="320040"/>
          </a:xfrm>
          <a:prstGeom prst="rect">
            <a:avLst/>
          </a:prstGeom>
          <a:noFill/>
          <a:ln/>
        </p:spPr>
        <p:txBody>
          <a:bodyPr wrap="square" lIns="0" tIns="0" rIns="0" bIns="0" rtlCol="0" anchor="ctr"/>
          <a:lstStyle/>
          <a:p>
            <a:pPr algn="ctr" indent="0" marL="0">
              <a:buNone/>
            </a:pPr>
            <a:r>
              <a:rPr lang="en-US" sz="1100" dirty="0">
                <a:solidFill>
                  <a:srgbClr val="B9C0DC"/>
                </a:solidFill>
                <a:latin typeface="Meiryo" pitchFamily="34" charset="0"/>
                <a:ea typeface="Meiryo" pitchFamily="34" charset="-122"/>
                <a:cs typeface="Meiryo" pitchFamily="34" charset="-120"/>
              </a:rPr>
              <a:t>本編（21名）のとき</a:t>
            </a:r>
            <a:endParaRPr lang="en-US" sz="1100" dirty="0"/>
          </a:p>
        </p:txBody>
      </p:sp>
      <p:sp>
        <p:nvSpPr>
          <p:cNvPr id="7" name="Shape 5"/>
          <p:cNvSpPr/>
          <p:nvPr/>
        </p:nvSpPr>
        <p:spPr>
          <a:xfrm>
            <a:off x="4572000" y="2011680"/>
            <a:ext cx="6979615" cy="694944"/>
          </a:xfrm>
          <a:prstGeom prst="roundRect">
            <a:avLst>
              <a:gd name="adj" fmla="val 10526"/>
            </a:avLst>
          </a:prstGeom>
          <a:solidFill>
            <a:srgbClr val="F2F4FB"/>
          </a:solidFill>
          <a:ln w="12700">
            <a:solidFill>
              <a:srgbClr val="D9DDEE"/>
            </a:solidFill>
            <a:prstDash val="solid"/>
          </a:ln>
        </p:spPr>
      </p:sp>
      <p:sp>
        <p:nvSpPr>
          <p:cNvPr id="8" name="Text 6"/>
          <p:cNvSpPr txBox="1"/>
          <p:nvPr/>
        </p:nvSpPr>
        <p:spPr>
          <a:xfrm>
            <a:off x="4846320" y="2130552"/>
            <a:ext cx="2286000" cy="274320"/>
          </a:xfrm>
          <a:prstGeom prst="rect">
            <a:avLst/>
          </a:prstGeom>
          <a:noFill/>
          <a:ln/>
        </p:spPr>
        <p:txBody>
          <a:bodyPr wrap="square" lIns="0" tIns="0" rIns="0" bIns="0" rtlCol="0" anchor="t"/>
          <a:lstStyle/>
          <a:p>
            <a:pPr indent="0" marL="0">
              <a:lnSpc>
                <a:spcPts val="2200"/>
              </a:lnSpc>
              <a:buNone/>
            </a:pPr>
            <a:r>
              <a:rPr lang="en-US" sz="1250" b="1" dirty="0">
                <a:solidFill>
                  <a:srgbClr val="4C56B8"/>
                </a:solidFill>
                <a:latin typeface="Meiryo" pitchFamily="34" charset="0"/>
                <a:ea typeface="Meiryo" pitchFamily="34" charset="-122"/>
                <a:cs typeface="Meiryo" pitchFamily="34" charset="-120"/>
              </a:rPr>
              <a:t>内訳</a:t>
            </a:r>
            <a:endParaRPr lang="en-US" sz="1250" dirty="0"/>
          </a:p>
        </p:txBody>
      </p:sp>
      <p:sp>
        <p:nvSpPr>
          <p:cNvPr id="9" name="Text 7"/>
          <p:cNvSpPr txBox="1"/>
          <p:nvPr/>
        </p:nvSpPr>
        <p:spPr>
          <a:xfrm>
            <a:off x="7223760" y="2130552"/>
            <a:ext cx="4053535" cy="457200"/>
          </a:xfrm>
          <a:prstGeom prst="rect">
            <a:avLst/>
          </a:prstGeom>
          <a:noFill/>
          <a:ln/>
        </p:spPr>
        <p:txBody>
          <a:bodyPr wrap="square" lIns="0" tIns="0" rIns="0" bIns="0" rtlCol="0" anchor="t"/>
          <a:lstStyle/>
          <a:p>
            <a:pPr indent="0" marL="0">
              <a:lnSpc>
                <a:spcPts val="1800"/>
              </a:lnSpc>
              <a:buNone/>
            </a:pPr>
            <a:r>
              <a:rPr lang="en-US" sz="1200" dirty="0">
                <a:solidFill>
                  <a:srgbClr val="1A2148"/>
                </a:solidFill>
                <a:latin typeface="Meiryo" pitchFamily="34" charset="0"/>
                <a:ea typeface="Meiryo" pitchFamily="34" charset="-122"/>
                <a:cs typeface="Meiryo" pitchFamily="34" charset="-120"/>
              </a:rPr>
              <a:t>火・木の夜運動 ＋ 日曜の疲労回復パート</a:t>
            </a:r>
            <a:endParaRPr lang="en-US" sz="1200" dirty="0"/>
          </a:p>
        </p:txBody>
      </p:sp>
      <p:sp>
        <p:nvSpPr>
          <p:cNvPr id="10" name="Shape 8"/>
          <p:cNvSpPr/>
          <p:nvPr/>
        </p:nvSpPr>
        <p:spPr>
          <a:xfrm>
            <a:off x="4572000" y="2807208"/>
            <a:ext cx="6979615" cy="694944"/>
          </a:xfrm>
          <a:prstGeom prst="roundRect">
            <a:avLst>
              <a:gd name="adj" fmla="val 10526"/>
            </a:avLst>
          </a:prstGeom>
          <a:solidFill>
            <a:srgbClr val="F2F4FB"/>
          </a:solidFill>
          <a:ln w="12700">
            <a:solidFill>
              <a:srgbClr val="D9DDEE"/>
            </a:solidFill>
            <a:prstDash val="solid"/>
          </a:ln>
        </p:spPr>
      </p:sp>
      <p:sp>
        <p:nvSpPr>
          <p:cNvPr id="11" name="Text 9"/>
          <p:cNvSpPr txBox="1"/>
          <p:nvPr/>
        </p:nvSpPr>
        <p:spPr>
          <a:xfrm>
            <a:off x="4846320" y="2926080"/>
            <a:ext cx="2286000" cy="274320"/>
          </a:xfrm>
          <a:prstGeom prst="rect">
            <a:avLst/>
          </a:prstGeom>
          <a:noFill/>
          <a:ln/>
        </p:spPr>
        <p:txBody>
          <a:bodyPr wrap="square" lIns="0" tIns="0" rIns="0" bIns="0" rtlCol="0" anchor="t"/>
          <a:lstStyle/>
          <a:p>
            <a:pPr indent="0" marL="0">
              <a:lnSpc>
                <a:spcPts val="2200"/>
              </a:lnSpc>
              <a:buNone/>
            </a:pPr>
            <a:r>
              <a:rPr lang="en-US" sz="1250" b="1" dirty="0">
                <a:solidFill>
                  <a:srgbClr val="4C56B8"/>
                </a:solidFill>
                <a:latin typeface="Meiryo" pitchFamily="34" charset="0"/>
                <a:ea typeface="Meiryo" pitchFamily="34" charset="-122"/>
                <a:cs typeface="Meiryo" pitchFamily="34" charset="-120"/>
              </a:rPr>
              <a:t>営業活動</a:t>
            </a:r>
            <a:endParaRPr lang="en-US" sz="1250" dirty="0"/>
          </a:p>
        </p:txBody>
      </p:sp>
      <p:sp>
        <p:nvSpPr>
          <p:cNvPr id="12" name="Text 10"/>
          <p:cNvSpPr txBox="1"/>
          <p:nvPr/>
        </p:nvSpPr>
        <p:spPr>
          <a:xfrm>
            <a:off x="7223760" y="2926080"/>
            <a:ext cx="4053535" cy="457200"/>
          </a:xfrm>
          <a:prstGeom prst="rect">
            <a:avLst/>
          </a:prstGeom>
          <a:noFill/>
          <a:ln/>
        </p:spPr>
        <p:txBody>
          <a:bodyPr wrap="square" lIns="0" tIns="0" rIns="0" bIns="0" rtlCol="0" anchor="t"/>
          <a:lstStyle/>
          <a:p>
            <a:pPr indent="0" marL="0">
              <a:lnSpc>
                <a:spcPts val="1800"/>
              </a:lnSpc>
              <a:buNone/>
            </a:pPr>
            <a:r>
              <a:rPr lang="en-US" sz="1200" dirty="0">
                <a:solidFill>
                  <a:srgbClr val="1A2148"/>
                </a:solidFill>
                <a:latin typeface="Meiryo" pitchFamily="34" charset="0"/>
                <a:ea typeface="Meiryo" pitchFamily="34" charset="-122"/>
                <a:cs typeface="Meiryo" pitchFamily="34" charset="-120"/>
              </a:rPr>
              <a:t>個人向けサービスが始まってから発生します（2027年7月ごろ〜）</a:t>
            </a:r>
            <a:endParaRPr lang="en-US" sz="1200" dirty="0"/>
          </a:p>
        </p:txBody>
      </p:sp>
      <p:sp>
        <p:nvSpPr>
          <p:cNvPr id="13" name="Shape 11"/>
          <p:cNvSpPr/>
          <p:nvPr/>
        </p:nvSpPr>
        <p:spPr>
          <a:xfrm>
            <a:off x="4572000" y="3602736"/>
            <a:ext cx="6979615" cy="694944"/>
          </a:xfrm>
          <a:prstGeom prst="roundRect">
            <a:avLst>
              <a:gd name="adj" fmla="val 10526"/>
            </a:avLst>
          </a:prstGeom>
          <a:solidFill>
            <a:srgbClr val="F2F4FB"/>
          </a:solidFill>
          <a:ln w="12700">
            <a:solidFill>
              <a:srgbClr val="D9DDEE"/>
            </a:solidFill>
            <a:prstDash val="solid"/>
          </a:ln>
        </p:spPr>
      </p:sp>
      <p:sp>
        <p:nvSpPr>
          <p:cNvPr id="14" name="Text 12"/>
          <p:cNvSpPr txBox="1"/>
          <p:nvPr/>
        </p:nvSpPr>
        <p:spPr>
          <a:xfrm>
            <a:off x="4846320" y="3721608"/>
            <a:ext cx="2286000" cy="274320"/>
          </a:xfrm>
          <a:prstGeom prst="rect">
            <a:avLst/>
          </a:prstGeom>
          <a:noFill/>
          <a:ln/>
        </p:spPr>
        <p:txBody>
          <a:bodyPr wrap="square" lIns="0" tIns="0" rIns="0" bIns="0" rtlCol="0" anchor="t"/>
          <a:lstStyle/>
          <a:p>
            <a:pPr indent="0" marL="0">
              <a:lnSpc>
                <a:spcPts val="2200"/>
              </a:lnSpc>
              <a:buNone/>
            </a:pPr>
            <a:r>
              <a:rPr lang="en-US" sz="1250" b="1" dirty="0">
                <a:solidFill>
                  <a:srgbClr val="4C56B8"/>
                </a:solidFill>
                <a:latin typeface="Meiryo" pitchFamily="34" charset="0"/>
                <a:ea typeface="Meiryo" pitchFamily="34" charset="-122"/>
                <a:cs typeface="Meiryo" pitchFamily="34" charset="-120"/>
              </a:rPr>
              <a:t>試運転（1か月・3名）</a:t>
            </a:r>
            <a:endParaRPr lang="en-US" sz="1250" dirty="0"/>
          </a:p>
        </p:txBody>
      </p:sp>
      <p:sp>
        <p:nvSpPr>
          <p:cNvPr id="15" name="Text 13"/>
          <p:cNvSpPr txBox="1"/>
          <p:nvPr/>
        </p:nvSpPr>
        <p:spPr>
          <a:xfrm>
            <a:off x="7223760" y="3721608"/>
            <a:ext cx="4053535" cy="457200"/>
          </a:xfrm>
          <a:prstGeom prst="rect">
            <a:avLst/>
          </a:prstGeom>
          <a:noFill/>
          <a:ln/>
        </p:spPr>
        <p:txBody>
          <a:bodyPr wrap="square" lIns="0" tIns="0" rIns="0" bIns="0" rtlCol="0" anchor="t"/>
          <a:lstStyle/>
          <a:p>
            <a:pPr indent="0" marL="0">
              <a:lnSpc>
                <a:spcPts val="1800"/>
              </a:lnSpc>
              <a:buNone/>
            </a:pPr>
            <a:r>
              <a:rPr lang="en-US" sz="1200" dirty="0">
                <a:solidFill>
                  <a:srgbClr val="1A2148"/>
                </a:solidFill>
                <a:latin typeface="Meiryo" pitchFamily="34" charset="0"/>
                <a:ea typeface="Meiryo" pitchFamily="34" charset="-122"/>
                <a:cs typeface="Meiryo" pitchFamily="34" charset="-120"/>
              </a:rPr>
              <a:t>この2時間よりも、ずっと小さい規模から始まります</a:t>
            </a:r>
            <a:endParaRPr lang="en-US" sz="1200" dirty="0"/>
          </a:p>
        </p:txBody>
      </p:sp>
      <p:sp>
        <p:nvSpPr>
          <p:cNvPr id="16" name="Text 14"/>
          <p:cNvSpPr txBox="1"/>
          <p:nvPr/>
        </p:nvSpPr>
        <p:spPr>
          <a:xfrm>
            <a:off x="640080" y="4663440"/>
            <a:ext cx="10911535" cy="548640"/>
          </a:xfrm>
          <a:prstGeom prst="rect">
            <a:avLst/>
          </a:prstGeom>
          <a:noFill/>
          <a:ln/>
        </p:spPr>
        <p:txBody>
          <a:bodyPr wrap="square" lIns="0" tIns="0" rIns="0" bIns="0" rtlCol="0" anchor="t"/>
          <a:lstStyle/>
          <a:p>
            <a:pPr indent="0" marL="0">
              <a:lnSpc>
                <a:spcPts val="2200"/>
              </a:lnSpc>
              <a:buNone/>
            </a:pPr>
            <a:r>
              <a:rPr lang="en-US" sz="1300" b="1" dirty="0">
                <a:solidFill>
                  <a:srgbClr val="1A2148"/>
                </a:solidFill>
                <a:latin typeface="Meiryo" pitchFamily="34" charset="0"/>
                <a:ea typeface="Meiryo" pitchFamily="34" charset="-122"/>
                <a:cs typeface="Meiryo" pitchFamily="34" charset="-120"/>
              </a:rPr>
              <a:t>私の方は、日曜の振り返り進行と、アプリ・アンケート・データまわりの運営、そして営業の接点づくりを担当します。</a:t>
            </a:r>
            <a:endParaRPr lang="en-US" sz="1300" dirty="0"/>
          </a:p>
        </p:txBody>
      </p:sp>
      <p:sp>
        <p:nvSpPr>
          <p:cNvPr id="17" name="Text 15"/>
          <p:cNvSpPr txBox="1"/>
          <p:nvPr/>
        </p:nvSpPr>
        <p:spPr>
          <a:xfrm>
            <a:off x="640080" y="5349240"/>
            <a:ext cx="10911535" cy="310896"/>
          </a:xfrm>
          <a:prstGeom prst="rect">
            <a:avLst/>
          </a:prstGeom>
          <a:noFill/>
          <a:ln/>
        </p:spPr>
        <p:txBody>
          <a:bodyPr wrap="square" lIns="0" tIns="0" rIns="0" bIns="0" rtlCol="0" anchor="ctr"/>
          <a:lstStyle/>
          <a:p>
            <a:pPr indent="0" marL="0">
              <a:lnSpc>
                <a:spcPts val="1600"/>
              </a:lnSpc>
              <a:buNone/>
            </a:pPr>
            <a:r>
              <a:rPr lang="en-US" sz="1100" dirty="0">
                <a:solidFill>
                  <a:srgbClr val="5A6382"/>
                </a:solidFill>
                <a:latin typeface="Meiryo" pitchFamily="34" charset="0"/>
                <a:ea typeface="Meiryo" pitchFamily="34" charset="-122"/>
                <a:cs typeface="Meiryo" pitchFamily="34" charset="-120"/>
              </a:rPr>
              <a:t>※週の目安は21名時の想定です。実際の稼働は、試運転の振り返りで一緒に見直します。</a:t>
            </a:r>
            <a:endParaRPr lang="en-US" sz="1100" dirty="0"/>
          </a:p>
        </p:txBody>
      </p:sp>
      <p:sp>
        <p:nvSpPr>
          <p:cNvPr id="18" name="Text 16"/>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今日、決めないことは何か？</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12項目は「これから一緒に決める」。報酬と収益配分は、今日は保留</a:t>
            </a:r>
            <a:endParaRPr lang="en-US" sz="3000" dirty="0"/>
          </a:p>
        </p:txBody>
      </p:sp>
      <p:sp>
        <p:nvSpPr>
          <p:cNvPr id="4" name="Shape 2"/>
          <p:cNvSpPr/>
          <p:nvPr/>
        </p:nvSpPr>
        <p:spPr>
          <a:xfrm>
            <a:off x="640080" y="2011680"/>
            <a:ext cx="2522144" cy="676656"/>
          </a:xfrm>
          <a:prstGeom prst="roundRect">
            <a:avLst>
              <a:gd name="adj" fmla="val 10811"/>
            </a:avLst>
          </a:prstGeom>
          <a:solidFill>
            <a:srgbClr val="F2F4FB"/>
          </a:solidFill>
          <a:ln w="12700">
            <a:solidFill>
              <a:srgbClr val="D9DDEE"/>
            </a:solidFill>
            <a:prstDash val="solid"/>
          </a:ln>
        </p:spPr>
      </p:sp>
      <p:sp>
        <p:nvSpPr>
          <p:cNvPr id="5" name="Text 3"/>
          <p:cNvSpPr txBox="1"/>
          <p:nvPr/>
        </p:nvSpPr>
        <p:spPr>
          <a:xfrm>
            <a:off x="841248" y="2139696"/>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ゴールと期限</a:t>
            </a:r>
            <a:endParaRPr lang="en-US" sz="1150" dirty="0"/>
          </a:p>
        </p:txBody>
      </p:sp>
      <p:sp>
        <p:nvSpPr>
          <p:cNvPr id="6" name="Shape 4"/>
          <p:cNvSpPr/>
          <p:nvPr/>
        </p:nvSpPr>
        <p:spPr>
          <a:xfrm>
            <a:off x="3436544" y="2011680"/>
            <a:ext cx="2522144" cy="676656"/>
          </a:xfrm>
          <a:prstGeom prst="roundRect">
            <a:avLst>
              <a:gd name="adj" fmla="val 10811"/>
            </a:avLst>
          </a:prstGeom>
          <a:solidFill>
            <a:srgbClr val="F2F4FB"/>
          </a:solidFill>
          <a:ln w="12700">
            <a:solidFill>
              <a:srgbClr val="D9DDEE"/>
            </a:solidFill>
            <a:prstDash val="solid"/>
          </a:ln>
        </p:spPr>
      </p:sp>
      <p:sp>
        <p:nvSpPr>
          <p:cNvPr id="7" name="Text 5"/>
          <p:cNvSpPr txBox="1"/>
          <p:nvPr/>
        </p:nvSpPr>
        <p:spPr>
          <a:xfrm>
            <a:off x="3637712" y="2139696"/>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モニターの期間</a:t>
            </a:r>
            <a:endParaRPr lang="en-US" sz="1150" dirty="0"/>
          </a:p>
        </p:txBody>
      </p:sp>
      <p:sp>
        <p:nvSpPr>
          <p:cNvPr id="8" name="Shape 6"/>
          <p:cNvSpPr/>
          <p:nvPr/>
        </p:nvSpPr>
        <p:spPr>
          <a:xfrm>
            <a:off x="6233008" y="2011680"/>
            <a:ext cx="2522144" cy="676656"/>
          </a:xfrm>
          <a:prstGeom prst="roundRect">
            <a:avLst>
              <a:gd name="adj" fmla="val 10811"/>
            </a:avLst>
          </a:prstGeom>
          <a:solidFill>
            <a:srgbClr val="F2F4FB"/>
          </a:solidFill>
          <a:ln w="12700">
            <a:solidFill>
              <a:srgbClr val="D9DDEE"/>
            </a:solidFill>
            <a:prstDash val="solid"/>
          </a:ln>
        </p:spPr>
      </p:sp>
      <p:sp>
        <p:nvSpPr>
          <p:cNvPr id="9" name="Text 7"/>
          <p:cNvSpPr txBox="1"/>
          <p:nvPr/>
        </p:nvSpPr>
        <p:spPr>
          <a:xfrm>
            <a:off x="6434176" y="2139696"/>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役割分担と稼働の目安</a:t>
            </a:r>
            <a:endParaRPr lang="en-US" sz="1150" dirty="0"/>
          </a:p>
        </p:txBody>
      </p:sp>
      <p:sp>
        <p:nvSpPr>
          <p:cNvPr id="10" name="Shape 8"/>
          <p:cNvSpPr/>
          <p:nvPr/>
        </p:nvSpPr>
        <p:spPr>
          <a:xfrm>
            <a:off x="9029471" y="2011680"/>
            <a:ext cx="2522144" cy="676656"/>
          </a:xfrm>
          <a:prstGeom prst="roundRect">
            <a:avLst>
              <a:gd name="adj" fmla="val 10811"/>
            </a:avLst>
          </a:prstGeom>
          <a:solidFill>
            <a:srgbClr val="FFF7E0"/>
          </a:solidFill>
          <a:ln w="12700">
            <a:solidFill>
              <a:srgbClr val="B8860B"/>
            </a:solidFill>
            <a:prstDash val="solid"/>
          </a:ln>
        </p:spPr>
      </p:sp>
      <p:sp>
        <p:nvSpPr>
          <p:cNvPr id="11" name="Text 9"/>
          <p:cNvSpPr txBox="1"/>
          <p:nvPr/>
        </p:nvSpPr>
        <p:spPr>
          <a:xfrm>
            <a:off x="9230639" y="2139696"/>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8A6508"/>
                </a:solidFill>
                <a:latin typeface="Meiryo" pitchFamily="34" charset="0"/>
                <a:ea typeface="Meiryo" pitchFamily="34" charset="-122"/>
                <a:cs typeface="Meiryo" pitchFamily="34" charset="-120"/>
              </a:rPr>
              <a:t>モニター期間中の報酬</a:t>
            </a:r>
            <a:endParaRPr lang="en-US" sz="1150" dirty="0"/>
          </a:p>
        </p:txBody>
      </p:sp>
      <p:sp>
        <p:nvSpPr>
          <p:cNvPr id="12" name="Shape 10"/>
          <p:cNvSpPr/>
          <p:nvPr/>
        </p:nvSpPr>
        <p:spPr>
          <a:xfrm>
            <a:off x="640080" y="2798064"/>
            <a:ext cx="2522144" cy="676656"/>
          </a:xfrm>
          <a:prstGeom prst="roundRect">
            <a:avLst>
              <a:gd name="adj" fmla="val 10811"/>
            </a:avLst>
          </a:prstGeom>
          <a:solidFill>
            <a:srgbClr val="FFF7E0"/>
          </a:solidFill>
          <a:ln w="12700">
            <a:solidFill>
              <a:srgbClr val="B8860B"/>
            </a:solidFill>
            <a:prstDash val="solid"/>
          </a:ln>
        </p:spPr>
      </p:sp>
      <p:sp>
        <p:nvSpPr>
          <p:cNvPr id="13" name="Text 11"/>
          <p:cNvSpPr txBox="1"/>
          <p:nvPr/>
        </p:nvSpPr>
        <p:spPr>
          <a:xfrm>
            <a:off x="841248" y="2926080"/>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8A6508"/>
                </a:solidFill>
                <a:latin typeface="Meiryo" pitchFamily="34" charset="0"/>
                <a:ea typeface="Meiryo" pitchFamily="34" charset="-122"/>
                <a:cs typeface="Meiryo" pitchFamily="34" charset="-120"/>
              </a:rPr>
              <a:t>有料化・企業受注後の収益配分</a:t>
            </a:r>
            <a:endParaRPr lang="en-US" sz="1150" dirty="0"/>
          </a:p>
        </p:txBody>
      </p:sp>
      <p:sp>
        <p:nvSpPr>
          <p:cNvPr id="14" name="Shape 12"/>
          <p:cNvSpPr/>
          <p:nvPr/>
        </p:nvSpPr>
        <p:spPr>
          <a:xfrm>
            <a:off x="3436544" y="2798064"/>
            <a:ext cx="2522144" cy="676656"/>
          </a:xfrm>
          <a:prstGeom prst="roundRect">
            <a:avLst>
              <a:gd name="adj" fmla="val 10811"/>
            </a:avLst>
          </a:prstGeom>
          <a:solidFill>
            <a:srgbClr val="F2F4FB"/>
          </a:solidFill>
          <a:ln w="12700">
            <a:solidFill>
              <a:srgbClr val="D9DDEE"/>
            </a:solidFill>
            <a:prstDash val="solid"/>
          </a:ln>
        </p:spPr>
      </p:sp>
      <p:sp>
        <p:nvSpPr>
          <p:cNvPr id="15" name="Text 13"/>
          <p:cNvSpPr txBox="1"/>
          <p:nvPr/>
        </p:nvSpPr>
        <p:spPr>
          <a:xfrm>
            <a:off x="3637712" y="2926080"/>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精神科医・安全責任者の役割範囲</a:t>
            </a:r>
            <a:endParaRPr lang="en-US" sz="1150" dirty="0"/>
          </a:p>
        </p:txBody>
      </p:sp>
      <p:sp>
        <p:nvSpPr>
          <p:cNvPr id="16" name="Shape 14"/>
          <p:cNvSpPr/>
          <p:nvPr/>
        </p:nvSpPr>
        <p:spPr>
          <a:xfrm>
            <a:off x="6233008" y="2798064"/>
            <a:ext cx="2522144" cy="676656"/>
          </a:xfrm>
          <a:prstGeom prst="roundRect">
            <a:avLst>
              <a:gd name="adj" fmla="val 10811"/>
            </a:avLst>
          </a:prstGeom>
          <a:solidFill>
            <a:srgbClr val="F2F4FB"/>
          </a:solidFill>
          <a:ln w="12700">
            <a:solidFill>
              <a:srgbClr val="D9DDEE"/>
            </a:solidFill>
            <a:prstDash val="solid"/>
          </a:ln>
        </p:spPr>
      </p:sp>
      <p:sp>
        <p:nvSpPr>
          <p:cNvPr id="17" name="Text 15"/>
          <p:cNvSpPr txBox="1"/>
          <p:nvPr/>
        </p:nvSpPr>
        <p:spPr>
          <a:xfrm>
            <a:off x="6434176" y="2926080"/>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測る指標</a:t>
            </a:r>
            <a:endParaRPr lang="en-US" sz="1150" dirty="0"/>
          </a:p>
        </p:txBody>
      </p:sp>
      <p:sp>
        <p:nvSpPr>
          <p:cNvPr id="18" name="Shape 16"/>
          <p:cNvSpPr/>
          <p:nvPr/>
        </p:nvSpPr>
        <p:spPr>
          <a:xfrm>
            <a:off x="9029471" y="2798064"/>
            <a:ext cx="2522144" cy="676656"/>
          </a:xfrm>
          <a:prstGeom prst="roundRect">
            <a:avLst>
              <a:gd name="adj" fmla="val 10811"/>
            </a:avLst>
          </a:prstGeom>
          <a:solidFill>
            <a:srgbClr val="F2F4FB"/>
          </a:solidFill>
          <a:ln w="12700">
            <a:solidFill>
              <a:srgbClr val="D9DDEE"/>
            </a:solidFill>
            <a:prstDash val="solid"/>
          </a:ln>
        </p:spPr>
      </p:sp>
      <p:sp>
        <p:nvSpPr>
          <p:cNvPr id="19" name="Text 17"/>
          <p:cNvSpPr txBox="1"/>
          <p:nvPr/>
        </p:nvSpPr>
        <p:spPr>
          <a:xfrm>
            <a:off x="9230639" y="2926080"/>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参加者情報の扱い</a:t>
            </a:r>
            <a:endParaRPr lang="en-US" sz="1150" dirty="0"/>
          </a:p>
        </p:txBody>
      </p:sp>
      <p:sp>
        <p:nvSpPr>
          <p:cNvPr id="20" name="Shape 18"/>
          <p:cNvSpPr/>
          <p:nvPr/>
        </p:nvSpPr>
        <p:spPr>
          <a:xfrm>
            <a:off x="640080" y="3584448"/>
            <a:ext cx="2522144" cy="676656"/>
          </a:xfrm>
          <a:prstGeom prst="roundRect">
            <a:avLst>
              <a:gd name="adj" fmla="val 10811"/>
            </a:avLst>
          </a:prstGeom>
          <a:solidFill>
            <a:srgbClr val="F2F4FB"/>
          </a:solidFill>
          <a:ln w="12700">
            <a:solidFill>
              <a:srgbClr val="D9DDEE"/>
            </a:solidFill>
            <a:prstDash val="solid"/>
          </a:ln>
        </p:spPr>
      </p:sp>
      <p:sp>
        <p:nvSpPr>
          <p:cNvPr id="21" name="Text 19"/>
          <p:cNvSpPr txBox="1"/>
          <p:nvPr/>
        </p:nvSpPr>
        <p:spPr>
          <a:xfrm>
            <a:off x="841248" y="3712464"/>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続ける・やめるの判断基準</a:t>
            </a:r>
            <a:endParaRPr lang="en-US" sz="1150" dirty="0"/>
          </a:p>
        </p:txBody>
      </p:sp>
      <p:sp>
        <p:nvSpPr>
          <p:cNvPr id="22" name="Shape 20"/>
          <p:cNvSpPr/>
          <p:nvPr/>
        </p:nvSpPr>
        <p:spPr>
          <a:xfrm>
            <a:off x="3436544" y="3584448"/>
            <a:ext cx="2522144" cy="676656"/>
          </a:xfrm>
          <a:prstGeom prst="roundRect">
            <a:avLst>
              <a:gd name="adj" fmla="val 10811"/>
            </a:avLst>
          </a:prstGeom>
          <a:solidFill>
            <a:srgbClr val="F2F4FB"/>
          </a:solidFill>
          <a:ln w="12700">
            <a:solidFill>
              <a:srgbClr val="D9DDEE"/>
            </a:solidFill>
            <a:prstDash val="solid"/>
          </a:ln>
        </p:spPr>
      </p:sp>
      <p:sp>
        <p:nvSpPr>
          <p:cNvPr id="23" name="Text 21"/>
          <p:cNvSpPr txBox="1"/>
          <p:nvPr/>
        </p:nvSpPr>
        <p:spPr>
          <a:xfrm>
            <a:off x="3637712" y="3712464"/>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判断する場をいつ持つか</a:t>
            </a:r>
            <a:endParaRPr lang="en-US" sz="1150" dirty="0"/>
          </a:p>
        </p:txBody>
      </p:sp>
      <p:sp>
        <p:nvSpPr>
          <p:cNvPr id="24" name="Shape 22"/>
          <p:cNvSpPr/>
          <p:nvPr/>
        </p:nvSpPr>
        <p:spPr>
          <a:xfrm>
            <a:off x="6233008" y="3584448"/>
            <a:ext cx="2522144" cy="676656"/>
          </a:xfrm>
          <a:prstGeom prst="roundRect">
            <a:avLst>
              <a:gd name="adj" fmla="val 10811"/>
            </a:avLst>
          </a:prstGeom>
          <a:solidFill>
            <a:srgbClr val="F2F4FB"/>
          </a:solidFill>
          <a:ln w="12700">
            <a:solidFill>
              <a:srgbClr val="D9DDEE"/>
            </a:solidFill>
            <a:prstDash val="solid"/>
          </a:ln>
        </p:spPr>
      </p:sp>
      <p:sp>
        <p:nvSpPr>
          <p:cNvPr id="25" name="Text 23"/>
          <p:cNvSpPr txBox="1"/>
          <p:nvPr/>
        </p:nvSpPr>
        <p:spPr>
          <a:xfrm>
            <a:off x="6434176" y="3712464"/>
            <a:ext cx="2119808" cy="457200"/>
          </a:xfrm>
          <a:prstGeom prst="rect">
            <a:avLst/>
          </a:prstGeom>
          <a:noFill/>
          <a:ln/>
        </p:spPr>
        <p:txBody>
          <a:bodyPr wrap="square" lIns="0" tIns="0" rIns="0" bIns="0" rtlCol="0" anchor="t"/>
          <a:lstStyle/>
          <a:p>
            <a:pPr indent="0" marL="0">
              <a:lnSpc>
                <a:spcPts val="1700"/>
              </a:lnSpc>
              <a:buNone/>
            </a:pPr>
            <a:r>
              <a:rPr lang="en-US" sz="1150" dirty="0">
                <a:solidFill>
                  <a:srgbClr val="1A2148"/>
                </a:solidFill>
                <a:latin typeface="Meiryo" pitchFamily="34" charset="0"/>
                <a:ea typeface="Meiryo" pitchFamily="34" charset="-122"/>
                <a:cs typeface="Meiryo" pitchFamily="34" charset="-120"/>
              </a:rPr>
              <a:t>ほか（全12項目）</a:t>
            </a:r>
            <a:endParaRPr lang="en-US" sz="1150" dirty="0"/>
          </a:p>
        </p:txBody>
      </p:sp>
      <p:sp>
        <p:nvSpPr>
          <p:cNvPr id="26" name="Shape 24"/>
          <p:cNvSpPr/>
          <p:nvPr/>
        </p:nvSpPr>
        <p:spPr>
          <a:xfrm>
            <a:off x="640080" y="4590288"/>
            <a:ext cx="146304" cy="146304"/>
          </a:xfrm>
          <a:prstGeom prst="ellipse">
            <a:avLst/>
          </a:prstGeom>
          <a:solidFill>
            <a:srgbClr val="B8860B"/>
          </a:solidFill>
          <a:ln w="12700">
            <a:solidFill>
              <a:srgbClr val="B8860B"/>
            </a:solidFill>
            <a:prstDash val="solid"/>
          </a:ln>
        </p:spPr>
      </p:sp>
      <p:sp>
        <p:nvSpPr>
          <p:cNvPr id="27" name="Text 25"/>
          <p:cNvSpPr txBox="1"/>
          <p:nvPr/>
        </p:nvSpPr>
        <p:spPr>
          <a:xfrm>
            <a:off x="914400" y="4526280"/>
            <a:ext cx="7315200" cy="274320"/>
          </a:xfrm>
          <a:prstGeom prst="rect">
            <a:avLst/>
          </a:prstGeom>
          <a:noFill/>
          <a:ln/>
        </p:spPr>
        <p:txBody>
          <a:bodyPr wrap="square" lIns="0" tIns="0" rIns="0" bIns="0" rtlCol="0" anchor="t"/>
          <a:lstStyle/>
          <a:p>
            <a:pPr indent="0" marL="0">
              <a:lnSpc>
                <a:spcPts val="2200"/>
              </a:lnSpc>
              <a:buNone/>
            </a:pPr>
            <a:r>
              <a:rPr lang="en-US" sz="1200" b="1" dirty="0">
                <a:solidFill>
                  <a:srgbClr val="B8860B"/>
                </a:solidFill>
                <a:latin typeface="Meiryo" pitchFamily="34" charset="0"/>
                <a:ea typeface="Meiryo" pitchFamily="34" charset="-122"/>
                <a:cs typeface="Meiryo" pitchFamily="34" charset="-120"/>
              </a:rPr>
              <a:t>＝ 今日は保留にさせてください</a:t>
            </a:r>
            <a:endParaRPr lang="en-US" sz="1200" dirty="0"/>
          </a:p>
        </p:txBody>
      </p:sp>
      <p:sp>
        <p:nvSpPr>
          <p:cNvPr id="28" name="Shape 26"/>
          <p:cNvSpPr/>
          <p:nvPr/>
        </p:nvSpPr>
        <p:spPr>
          <a:xfrm>
            <a:off x="640080" y="4983480"/>
            <a:ext cx="10911535" cy="914400"/>
          </a:xfrm>
          <a:prstGeom prst="roundRect">
            <a:avLst>
              <a:gd name="adj" fmla="val 8000"/>
            </a:avLst>
          </a:prstGeom>
          <a:solidFill>
            <a:srgbClr val="EEF0FA"/>
          </a:solidFill>
          <a:ln w="12700">
            <a:solidFill>
              <a:srgbClr val="C9CFEA"/>
            </a:solidFill>
            <a:prstDash val="solid"/>
          </a:ln>
        </p:spPr>
      </p:sp>
      <p:sp>
        <p:nvSpPr>
          <p:cNvPr id="29" name="Text 27"/>
          <p:cNvSpPr txBox="1"/>
          <p:nvPr/>
        </p:nvSpPr>
        <p:spPr>
          <a:xfrm>
            <a:off x="960120" y="5193792"/>
            <a:ext cx="10271455" cy="548640"/>
          </a:xfrm>
          <a:prstGeom prst="rect">
            <a:avLst/>
          </a:prstGeom>
          <a:noFill/>
          <a:ln/>
        </p:spPr>
        <p:txBody>
          <a:bodyPr wrap="square" lIns="0" tIns="0" rIns="0" bIns="0" rtlCol="0" anchor="t"/>
          <a:lstStyle/>
          <a:p>
            <a:pPr indent="0" marL="0">
              <a:lnSpc>
                <a:spcPts val="2000"/>
              </a:lnSpc>
              <a:buNone/>
            </a:pPr>
            <a:r>
              <a:rPr lang="en-US" sz="1250" dirty="0">
                <a:solidFill>
                  <a:srgbClr val="1A2148"/>
                </a:solidFill>
                <a:latin typeface="Meiryo" pitchFamily="34" charset="0"/>
                <a:ea typeface="Meiryo" pitchFamily="34" charset="-122"/>
                <a:cs typeface="Meiryo" pitchFamily="34" charset="-120"/>
              </a:rPr>
              <a:t>月末の定例ミーティングのような形は決めません。細かい項目は、必要なタイミングでそのつどご相談させてください。</a:t>
            </a:r>
            <a:endParaRPr lang="en-US" sz="1250" dirty="0"/>
          </a:p>
        </p:txBody>
      </p:sp>
      <p:sp>
        <p:nvSpPr>
          <p:cNvPr id="30" name="Text 28"/>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4C56B8"/>
                </a:solidFill>
                <a:latin typeface="Meiryo" pitchFamily="34" charset="0"/>
                <a:ea typeface="Meiryo" pitchFamily="34" charset="-122"/>
                <a:cs typeface="Meiryo" pitchFamily="34" charset="-120"/>
              </a:rPr>
              <a:t>Q.  先に伝えておきたい心配は？</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1A2148"/>
                </a:solidFill>
                <a:latin typeface="Meiryo" pitchFamily="34" charset="0"/>
                <a:ea typeface="Meiryo" pitchFamily="34" charset="-122"/>
                <a:cs typeface="Meiryo" pitchFamily="34" charset="-120"/>
              </a:rPr>
              <a:t>地ならしなしで営業を始めるので、2028年3月は確約できない</a:t>
            </a:r>
            <a:endParaRPr lang="en-US" sz="3000" dirty="0"/>
          </a:p>
        </p:txBody>
      </p:sp>
      <p:sp>
        <p:nvSpPr>
          <p:cNvPr id="4" name="Shape 2"/>
          <p:cNvSpPr/>
          <p:nvPr/>
        </p:nvSpPr>
        <p:spPr>
          <a:xfrm>
            <a:off x="640080" y="2011680"/>
            <a:ext cx="5250028" cy="2468880"/>
          </a:xfrm>
          <a:prstGeom prst="roundRect">
            <a:avLst>
              <a:gd name="adj" fmla="val 2963"/>
            </a:avLst>
          </a:prstGeom>
          <a:solidFill>
            <a:srgbClr val="F2F4FB"/>
          </a:solidFill>
          <a:ln w="12700">
            <a:solidFill>
              <a:srgbClr val="D9DDEE"/>
            </a:solidFill>
            <a:prstDash val="solid"/>
          </a:ln>
        </p:spPr>
      </p:sp>
      <p:sp>
        <p:nvSpPr>
          <p:cNvPr id="5" name="Text 3"/>
          <p:cNvSpPr txBox="1"/>
          <p:nvPr/>
        </p:nvSpPr>
        <p:spPr>
          <a:xfrm>
            <a:off x="960120" y="2267712"/>
            <a:ext cx="4609948" cy="274320"/>
          </a:xfrm>
          <a:prstGeom prst="rect">
            <a:avLst/>
          </a:prstGeom>
          <a:noFill/>
          <a:ln/>
        </p:spPr>
        <p:txBody>
          <a:bodyPr wrap="square" lIns="0" tIns="0" rIns="0" bIns="0" rtlCol="0" anchor="ctr"/>
          <a:lstStyle/>
          <a:p>
            <a:pPr indent="0" marL="0">
              <a:buNone/>
            </a:pPr>
            <a:r>
              <a:rPr lang="en-US" sz="1200" b="1" dirty="0">
                <a:solidFill>
                  <a:srgbClr val="4C56B8"/>
                </a:solidFill>
                <a:latin typeface="Meiryo" pitchFamily="34" charset="0"/>
                <a:ea typeface="Meiryo" pitchFamily="34" charset="-122"/>
                <a:cs typeface="Meiryo" pitchFamily="34" charset="-120"/>
              </a:rPr>
              <a:t>① アンケート・データの管理</a:t>
            </a:r>
            <a:endParaRPr lang="en-US" sz="1200" dirty="0"/>
          </a:p>
        </p:txBody>
      </p:sp>
      <p:sp>
        <p:nvSpPr>
          <p:cNvPr id="6" name="Text 4"/>
          <p:cNvSpPr txBox="1"/>
          <p:nvPr/>
        </p:nvSpPr>
        <p:spPr>
          <a:xfrm>
            <a:off x="960120" y="2651760"/>
            <a:ext cx="4609948" cy="457200"/>
          </a:xfrm>
          <a:prstGeom prst="rect">
            <a:avLst/>
          </a:prstGeom>
          <a:noFill/>
          <a:ln/>
        </p:spPr>
        <p:txBody>
          <a:bodyPr wrap="square" lIns="0" tIns="0" rIns="0" bIns="0" rtlCol="0" anchor="t"/>
          <a:lstStyle/>
          <a:p>
            <a:pPr indent="0" marL="0">
              <a:lnSpc>
                <a:spcPts val="2200"/>
              </a:lnSpc>
              <a:buNone/>
            </a:pPr>
            <a:r>
              <a:rPr lang="en-US" sz="1700" b="1" dirty="0">
                <a:solidFill>
                  <a:srgbClr val="1A2148"/>
                </a:solidFill>
                <a:latin typeface="Meiryo" pitchFamily="34" charset="0"/>
                <a:ea typeface="Meiryo" pitchFamily="34" charset="-122"/>
                <a:cs typeface="Meiryo" pitchFamily="34" charset="-120"/>
              </a:rPr>
              <a:t>私が担当します</a:t>
            </a:r>
            <a:endParaRPr lang="en-US" sz="1700" dirty="0"/>
          </a:p>
        </p:txBody>
      </p:sp>
      <p:sp>
        <p:nvSpPr>
          <p:cNvPr id="7" name="Text 5"/>
          <p:cNvSpPr txBox="1"/>
          <p:nvPr/>
        </p:nvSpPr>
        <p:spPr>
          <a:xfrm>
            <a:off x="960120" y="3246120"/>
            <a:ext cx="4609948" cy="96012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参加者情報の扱いは、これから一緒に決める12項目のひとつとして、改めてご相談させてください。</a:t>
            </a:r>
            <a:endParaRPr lang="en-US" sz="1250" dirty="0"/>
          </a:p>
        </p:txBody>
      </p:sp>
      <p:sp>
        <p:nvSpPr>
          <p:cNvPr id="8" name="Shape 6"/>
          <p:cNvSpPr/>
          <p:nvPr/>
        </p:nvSpPr>
        <p:spPr>
          <a:xfrm>
            <a:off x="6301588" y="2011680"/>
            <a:ext cx="5250028" cy="2468880"/>
          </a:xfrm>
          <a:prstGeom prst="roundRect">
            <a:avLst>
              <a:gd name="adj" fmla="val 2963"/>
            </a:avLst>
          </a:prstGeom>
          <a:solidFill>
            <a:srgbClr val="FFF7E0"/>
          </a:solidFill>
          <a:ln w="12700">
            <a:solidFill>
              <a:srgbClr val="B8860B"/>
            </a:solidFill>
            <a:prstDash val="solid"/>
          </a:ln>
        </p:spPr>
      </p:sp>
      <p:sp>
        <p:nvSpPr>
          <p:cNvPr id="9" name="Text 7"/>
          <p:cNvSpPr txBox="1"/>
          <p:nvPr/>
        </p:nvSpPr>
        <p:spPr>
          <a:xfrm>
            <a:off x="6621628" y="2267712"/>
            <a:ext cx="4609948" cy="274320"/>
          </a:xfrm>
          <a:prstGeom prst="rect">
            <a:avLst/>
          </a:prstGeom>
          <a:noFill/>
          <a:ln/>
        </p:spPr>
        <p:txBody>
          <a:bodyPr wrap="square" lIns="0" tIns="0" rIns="0" bIns="0" rtlCol="0" anchor="ctr"/>
          <a:lstStyle/>
          <a:p>
            <a:pPr indent="0" marL="0">
              <a:buNone/>
            </a:pPr>
            <a:r>
              <a:rPr lang="en-US" sz="1200" b="1" dirty="0">
                <a:solidFill>
                  <a:srgbClr val="B8860B"/>
                </a:solidFill>
                <a:latin typeface="Meiryo" pitchFamily="34" charset="0"/>
                <a:ea typeface="Meiryo" pitchFamily="34" charset="-122"/>
                <a:cs typeface="Meiryo" pitchFamily="34" charset="-120"/>
              </a:rPr>
              <a:t>② 法人営業のスケジュール</a:t>
            </a:r>
            <a:endParaRPr lang="en-US" sz="1200" dirty="0"/>
          </a:p>
        </p:txBody>
      </p:sp>
      <p:sp>
        <p:nvSpPr>
          <p:cNvPr id="10" name="Text 8"/>
          <p:cNvSpPr txBox="1"/>
          <p:nvPr/>
        </p:nvSpPr>
        <p:spPr>
          <a:xfrm>
            <a:off x="6621628" y="2651760"/>
            <a:ext cx="4609948" cy="457200"/>
          </a:xfrm>
          <a:prstGeom prst="rect">
            <a:avLst/>
          </a:prstGeom>
          <a:noFill/>
          <a:ln/>
        </p:spPr>
        <p:txBody>
          <a:bodyPr wrap="square" lIns="0" tIns="0" rIns="0" bIns="0" rtlCol="0" anchor="t"/>
          <a:lstStyle/>
          <a:p>
            <a:pPr indent="0" marL="0">
              <a:lnSpc>
                <a:spcPts val="2200"/>
              </a:lnSpc>
              <a:buNone/>
            </a:pPr>
            <a:r>
              <a:rPr lang="en-US" sz="1700" b="1" dirty="0">
                <a:solidFill>
                  <a:srgbClr val="1A2148"/>
                </a:solidFill>
                <a:latin typeface="Meiryo" pitchFamily="34" charset="0"/>
                <a:ea typeface="Meiryo" pitchFamily="34" charset="-122"/>
                <a:cs typeface="Meiryo" pitchFamily="34" charset="-120"/>
              </a:rPr>
              <a:t>2028年3月は、確約できません</a:t>
            </a:r>
            <a:endParaRPr lang="en-US" sz="1700" dirty="0"/>
          </a:p>
        </p:txBody>
      </p:sp>
      <p:sp>
        <p:nvSpPr>
          <p:cNvPr id="11" name="Text 9"/>
          <p:cNvSpPr txBox="1"/>
          <p:nvPr/>
        </p:nvSpPr>
        <p:spPr>
          <a:xfrm>
            <a:off x="6621628" y="3246120"/>
            <a:ext cx="4609948" cy="960120"/>
          </a:xfrm>
          <a:prstGeom prst="rect">
            <a:avLst/>
          </a:prstGeom>
          <a:noFill/>
          <a:ln/>
        </p:spPr>
        <p:txBody>
          <a:bodyPr wrap="square" lIns="0" tIns="0" rIns="0" bIns="0" rtlCol="0" anchor="t"/>
          <a:lstStyle/>
          <a:p>
            <a:pPr indent="0" marL="0">
              <a:lnSpc>
                <a:spcPts val="2100"/>
              </a:lnSpc>
              <a:buNone/>
            </a:pPr>
            <a:r>
              <a:rPr lang="en-US" sz="1250" dirty="0">
                <a:solidFill>
                  <a:srgbClr val="1A2148"/>
                </a:solidFill>
                <a:latin typeface="Meiryo" pitchFamily="34" charset="0"/>
                <a:ea typeface="Meiryo" pitchFamily="34" charset="-122"/>
                <a:cs typeface="Meiryo" pitchFamily="34" charset="-120"/>
              </a:rPr>
              <a:t>地ならしを先に始めず、エビデンスと個人会員の実績ができてから営業を始める順番にしたためです。実際に営業を始めてみないと、確定的なことは言えません。</a:t>
            </a:r>
            <a:endParaRPr lang="en-US" sz="1250" dirty="0"/>
          </a:p>
        </p:txBody>
      </p:sp>
      <p:sp>
        <p:nvSpPr>
          <p:cNvPr id="12" name="Shape 10"/>
          <p:cNvSpPr/>
          <p:nvPr/>
        </p:nvSpPr>
        <p:spPr>
          <a:xfrm>
            <a:off x="640080" y="4754880"/>
            <a:ext cx="10911535" cy="914400"/>
          </a:xfrm>
          <a:prstGeom prst="roundRect">
            <a:avLst>
              <a:gd name="adj" fmla="val 8000"/>
            </a:avLst>
          </a:prstGeom>
          <a:solidFill>
            <a:srgbClr val="EEF0FA"/>
          </a:solidFill>
          <a:ln w="12700">
            <a:solidFill>
              <a:srgbClr val="C9CFEA"/>
            </a:solidFill>
            <a:prstDash val="solid"/>
          </a:ln>
        </p:spPr>
      </p:sp>
      <p:sp>
        <p:nvSpPr>
          <p:cNvPr id="13" name="Text 11"/>
          <p:cNvSpPr txBox="1"/>
          <p:nvPr/>
        </p:nvSpPr>
        <p:spPr>
          <a:xfrm>
            <a:off x="960120" y="4965192"/>
            <a:ext cx="10271455" cy="548640"/>
          </a:xfrm>
          <a:prstGeom prst="rect">
            <a:avLst/>
          </a:prstGeom>
          <a:noFill/>
          <a:ln/>
        </p:spPr>
        <p:txBody>
          <a:bodyPr wrap="square" lIns="0" tIns="0" rIns="0" bIns="0" rtlCol="0" anchor="t"/>
          <a:lstStyle/>
          <a:p>
            <a:pPr indent="0" marL="0">
              <a:lnSpc>
                <a:spcPts val="2200"/>
              </a:lnSpc>
              <a:buNone/>
            </a:pPr>
            <a:r>
              <a:rPr lang="en-US" sz="1300" b="1" dirty="0">
                <a:solidFill>
                  <a:srgbClr val="1A2148"/>
                </a:solidFill>
                <a:latin typeface="Meiryo" pitchFamily="34" charset="0"/>
                <a:ea typeface="Meiryo" pitchFamily="34" charset="-122"/>
                <a:cs typeface="Meiryo" pitchFamily="34" charset="-120"/>
              </a:rPr>
              <a:t>早められる部分が見つかれば、その都度、伊藤さんにご相談します。</a:t>
            </a:r>
            <a:endParaRPr lang="en-US" sz="130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026"/>
        </a:solidFill>
      </p:bgPr>
    </p:bg>
    <p:spTree>
      <p:nvGrpSpPr>
        <p:cNvPr id="1" name=""/>
        <p:cNvGrpSpPr/>
        <p:nvPr/>
      </p:nvGrpSpPr>
      <p:grpSpPr>
        <a:xfrm>
          <a:off x="0" y="0"/>
          <a:ext cx="0" cy="0"/>
          <a:chOff x="0" y="0"/>
          <a:chExt cx="0" cy="0"/>
        </a:xfrm>
      </p:grpSpPr>
      <p:sp>
        <p:nvSpPr>
          <p:cNvPr id="2" name="Text 0"/>
          <p:cNvSpPr txBox="1"/>
          <p:nvPr/>
        </p:nvSpPr>
        <p:spPr>
          <a:xfrm>
            <a:off x="640080" y="502920"/>
            <a:ext cx="10911535" cy="292608"/>
          </a:xfrm>
          <a:prstGeom prst="rect">
            <a:avLst/>
          </a:prstGeom>
          <a:noFill/>
          <a:ln/>
        </p:spPr>
        <p:txBody>
          <a:bodyPr wrap="square" lIns="0" tIns="0" rIns="0" bIns="0" rtlCol="0" anchor="ctr"/>
          <a:lstStyle/>
          <a:p>
            <a:pPr indent="0" marL="0">
              <a:buNone/>
            </a:pPr>
            <a:r>
              <a:rPr lang="en-US" sz="1300" b="1" spc="100" kern="0" dirty="0">
                <a:solidFill>
                  <a:srgbClr val="FCD34D"/>
                </a:solidFill>
                <a:latin typeface="Meiryo" pitchFamily="34" charset="0"/>
                <a:ea typeface="Meiryo" pitchFamily="34" charset="-122"/>
                <a:cs typeface="Meiryo" pitchFamily="34" charset="-120"/>
              </a:rPr>
              <a:t>Q.  今日、お返事いただきたいこと</a:t>
            </a:r>
            <a:endParaRPr lang="en-US" sz="1300" dirty="0"/>
          </a:p>
        </p:txBody>
      </p:sp>
      <p:sp>
        <p:nvSpPr>
          <p:cNvPr id="3" name="Text 1"/>
          <p:cNvSpPr txBox="1"/>
          <p:nvPr/>
        </p:nvSpPr>
        <p:spPr>
          <a:xfrm>
            <a:off x="640080" y="822960"/>
            <a:ext cx="10911535" cy="1051560"/>
          </a:xfrm>
          <a:prstGeom prst="rect">
            <a:avLst/>
          </a:prstGeom>
          <a:noFill/>
          <a:ln/>
        </p:spPr>
        <p:txBody>
          <a:bodyPr wrap="square" lIns="0" tIns="0" rIns="0" bIns="0" rtlCol="0" anchor="ctr"/>
          <a:lstStyle/>
          <a:p>
            <a:pPr indent="0" marL="0">
              <a:lnSpc>
                <a:spcPts val="4000"/>
              </a:lnSpc>
              <a:buNone/>
            </a:pPr>
            <a:r>
              <a:rPr lang="en-US" sz="3000" b="1" dirty="0">
                <a:solidFill>
                  <a:srgbClr val="FFFFFF"/>
                </a:solidFill>
                <a:latin typeface="Meiryo" pitchFamily="34" charset="0"/>
                <a:ea typeface="Meiryo" pitchFamily="34" charset="-122"/>
                <a:cs typeface="Meiryo" pitchFamily="34" charset="-120"/>
              </a:rPr>
              <a:t>まずは1か月、試運転を一緒に</a:t>
            </a:r>
            <a:endParaRPr lang="en-US" sz="3000" dirty="0"/>
          </a:p>
        </p:txBody>
      </p:sp>
      <p:sp>
        <p:nvSpPr>
          <p:cNvPr id="4" name="Shape 2"/>
          <p:cNvSpPr/>
          <p:nvPr/>
        </p:nvSpPr>
        <p:spPr>
          <a:xfrm>
            <a:off x="640080" y="1965960"/>
            <a:ext cx="10911535" cy="1234440"/>
          </a:xfrm>
          <a:prstGeom prst="roundRect">
            <a:avLst>
              <a:gd name="adj" fmla="val 7407"/>
            </a:avLst>
          </a:prstGeom>
          <a:solidFill>
            <a:srgbClr val="17204A"/>
          </a:solidFill>
          <a:ln w="25400">
            <a:solidFill>
              <a:srgbClr val="FCD34D"/>
            </a:solidFill>
            <a:prstDash val="solid"/>
          </a:ln>
        </p:spPr>
      </p:sp>
      <p:sp>
        <p:nvSpPr>
          <p:cNvPr id="5" name="Text 3"/>
          <p:cNvSpPr txBox="1"/>
          <p:nvPr/>
        </p:nvSpPr>
        <p:spPr>
          <a:xfrm>
            <a:off x="960120" y="2331720"/>
            <a:ext cx="10271455" cy="548640"/>
          </a:xfrm>
          <a:prstGeom prst="rect">
            <a:avLst/>
          </a:prstGeom>
          <a:noFill/>
          <a:ln/>
        </p:spPr>
        <p:txBody>
          <a:bodyPr wrap="square" lIns="0" tIns="0" rIns="0" bIns="0" rtlCol="0" anchor="ctr"/>
          <a:lstStyle/>
          <a:p>
            <a:pPr indent="0" marL="0">
              <a:buNone/>
            </a:pPr>
            <a:r>
              <a:rPr lang="en-US" sz="2100" b="1" dirty="0">
                <a:solidFill>
                  <a:srgbClr val="FFFFFF"/>
                </a:solidFill>
                <a:latin typeface="Meiryo" pitchFamily="34" charset="0"/>
                <a:ea typeface="Meiryo" pitchFamily="34" charset="-122"/>
                <a:cs typeface="Meiryo" pitchFamily="34" charset="-120"/>
              </a:rPr>
              <a:t>「1か月、試運転をやってみる」。この一点だけ、お考えを聞かせてください。</a:t>
            </a:r>
            <a:endParaRPr lang="en-US" sz="2100" dirty="0"/>
          </a:p>
        </p:txBody>
      </p:sp>
      <p:sp>
        <p:nvSpPr>
          <p:cNvPr id="6" name="Text 4"/>
          <p:cNvSpPr txBox="1"/>
          <p:nvPr/>
        </p:nvSpPr>
        <p:spPr>
          <a:xfrm>
            <a:off x="640080" y="3520440"/>
            <a:ext cx="5486400" cy="292608"/>
          </a:xfrm>
          <a:prstGeom prst="rect">
            <a:avLst/>
          </a:prstGeom>
          <a:noFill/>
          <a:ln/>
        </p:spPr>
        <p:txBody>
          <a:bodyPr wrap="square" lIns="0" tIns="0" rIns="0" bIns="0" rtlCol="0" anchor="ctr"/>
          <a:lstStyle/>
          <a:p>
            <a:pPr indent="0" marL="0">
              <a:buNone/>
            </a:pPr>
            <a:r>
              <a:rPr lang="en-US" sz="1300" b="1" dirty="0">
                <a:solidFill>
                  <a:srgbClr val="8A93B8"/>
                </a:solidFill>
                <a:latin typeface="Meiryo" pitchFamily="34" charset="0"/>
                <a:ea typeface="Meiryo" pitchFamily="34" charset="-122"/>
                <a:cs typeface="Meiryo" pitchFamily="34" charset="-120"/>
              </a:rPr>
              <a:t>一緒にやっていきたいこと</a:t>
            </a:r>
            <a:endParaRPr lang="en-US" sz="1300" dirty="0"/>
          </a:p>
        </p:txBody>
      </p:sp>
      <p:sp>
        <p:nvSpPr>
          <p:cNvPr id="7" name="Shape 5"/>
          <p:cNvSpPr/>
          <p:nvPr/>
        </p:nvSpPr>
        <p:spPr>
          <a:xfrm>
            <a:off x="640080" y="3913632"/>
            <a:ext cx="3429000" cy="713232"/>
          </a:xfrm>
          <a:prstGeom prst="roundRect">
            <a:avLst>
              <a:gd name="adj" fmla="val 10256"/>
            </a:avLst>
          </a:prstGeom>
          <a:solidFill>
            <a:srgbClr val="141B3C"/>
          </a:solidFill>
          <a:ln w="12700">
            <a:solidFill>
              <a:srgbClr val="FCD34D"/>
            </a:solidFill>
            <a:prstDash val="solid"/>
          </a:ln>
        </p:spPr>
      </p:sp>
      <p:sp>
        <p:nvSpPr>
          <p:cNvPr id="8" name="Text 6"/>
          <p:cNvSpPr txBox="1"/>
          <p:nvPr/>
        </p:nvSpPr>
        <p:spPr>
          <a:xfrm>
            <a:off x="841248" y="4069080"/>
            <a:ext cx="3063240" cy="45720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Meiryo" pitchFamily="34" charset="0"/>
                <a:ea typeface="Meiryo" pitchFamily="34" charset="-122"/>
                <a:cs typeface="Meiryo" pitchFamily="34" charset="-120"/>
              </a:rPr>
              <a:t>火・木の夜運動</a:t>
            </a:r>
            <a:endParaRPr lang="en-US" sz="1250" dirty="0"/>
          </a:p>
        </p:txBody>
      </p:sp>
      <p:sp>
        <p:nvSpPr>
          <p:cNvPr id="9" name="Shape 7"/>
          <p:cNvSpPr/>
          <p:nvPr/>
        </p:nvSpPr>
        <p:spPr>
          <a:xfrm>
            <a:off x="4343400" y="3913632"/>
            <a:ext cx="3429000" cy="713232"/>
          </a:xfrm>
          <a:prstGeom prst="roundRect">
            <a:avLst>
              <a:gd name="adj" fmla="val 10256"/>
            </a:avLst>
          </a:prstGeom>
          <a:solidFill>
            <a:srgbClr val="141B3C"/>
          </a:solidFill>
          <a:ln w="12700">
            <a:solidFill>
              <a:srgbClr val="FCD34D"/>
            </a:solidFill>
            <a:prstDash val="solid"/>
          </a:ln>
        </p:spPr>
      </p:sp>
      <p:sp>
        <p:nvSpPr>
          <p:cNvPr id="10" name="Text 8"/>
          <p:cNvSpPr txBox="1"/>
          <p:nvPr/>
        </p:nvSpPr>
        <p:spPr>
          <a:xfrm>
            <a:off x="4544568" y="4069080"/>
            <a:ext cx="3063240" cy="45720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Meiryo" pitchFamily="34" charset="0"/>
                <a:ea typeface="Meiryo" pitchFamily="34" charset="-122"/>
                <a:cs typeface="Meiryo" pitchFamily="34" charset="-120"/>
              </a:rPr>
              <a:t>日曜の疲労回復パート</a:t>
            </a:r>
            <a:endParaRPr lang="en-US" sz="1250" dirty="0"/>
          </a:p>
        </p:txBody>
      </p:sp>
      <p:sp>
        <p:nvSpPr>
          <p:cNvPr id="11" name="Shape 9"/>
          <p:cNvSpPr/>
          <p:nvPr/>
        </p:nvSpPr>
        <p:spPr>
          <a:xfrm>
            <a:off x="8046720" y="3913632"/>
            <a:ext cx="3429000" cy="713232"/>
          </a:xfrm>
          <a:prstGeom prst="roundRect">
            <a:avLst>
              <a:gd name="adj" fmla="val 10256"/>
            </a:avLst>
          </a:prstGeom>
          <a:solidFill>
            <a:srgbClr val="141B3C"/>
          </a:solidFill>
          <a:ln w="12700">
            <a:solidFill>
              <a:srgbClr val="FCD34D"/>
            </a:solidFill>
            <a:prstDash val="solid"/>
          </a:ln>
        </p:spPr>
      </p:sp>
      <p:sp>
        <p:nvSpPr>
          <p:cNvPr id="12" name="Text 10"/>
          <p:cNvSpPr txBox="1"/>
          <p:nvPr/>
        </p:nvSpPr>
        <p:spPr>
          <a:xfrm>
            <a:off x="8247888" y="4069080"/>
            <a:ext cx="3063240" cy="45720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Meiryo" pitchFamily="34" charset="0"/>
                <a:ea typeface="Meiryo" pitchFamily="34" charset="-122"/>
                <a:cs typeface="Meiryo" pitchFamily="34" charset="-120"/>
              </a:rPr>
              <a:t>個人向けが始まってからの接点づくり</a:t>
            </a:r>
            <a:endParaRPr lang="en-US" sz="1250" dirty="0"/>
          </a:p>
        </p:txBody>
      </p:sp>
      <p:sp>
        <p:nvSpPr>
          <p:cNvPr id="13" name="Text 11"/>
          <p:cNvSpPr txBox="1"/>
          <p:nvPr/>
        </p:nvSpPr>
        <p:spPr>
          <a:xfrm>
            <a:off x="640080" y="4937760"/>
            <a:ext cx="10911535" cy="365760"/>
          </a:xfrm>
          <a:prstGeom prst="rect">
            <a:avLst/>
          </a:prstGeom>
          <a:noFill/>
          <a:ln/>
        </p:spPr>
        <p:txBody>
          <a:bodyPr wrap="square" lIns="0" tIns="0" rIns="0" bIns="0" rtlCol="0" anchor="ctr"/>
          <a:lstStyle/>
          <a:p>
            <a:pPr indent="0" marL="0">
              <a:buNone/>
            </a:pPr>
            <a:r>
              <a:rPr lang="en-US" sz="1300" dirty="0">
                <a:solidFill>
                  <a:srgbClr val="B9C0DC"/>
                </a:solidFill>
                <a:latin typeface="Meiryo" pitchFamily="34" charset="0"/>
                <a:ea typeface="Meiryo" pitchFamily="34" charset="-122"/>
                <a:cs typeface="Meiryo" pitchFamily="34" charset="-120"/>
              </a:rPr>
              <a:t>今日この場で、すべて決めていただかなくて大丈夫です。</a:t>
            </a:r>
            <a:endParaRPr lang="en-US" sz="1300" dirty="0"/>
          </a:p>
        </p:txBody>
      </p:sp>
      <p:sp>
        <p:nvSpPr>
          <p:cNvPr id="14" name="Text 12"/>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786384"/>
            <a:ext cx="10911535" cy="548640"/>
          </a:xfrm>
          <a:prstGeom prst="rect">
            <a:avLst/>
          </a:prstGeom>
          <a:noFill/>
          <a:ln/>
        </p:spPr>
        <p:txBody>
          <a:bodyPr wrap="square" lIns="0" tIns="0" rIns="0" bIns="0" rtlCol="0" anchor="ctr"/>
          <a:lstStyle/>
          <a:p>
            <a:pPr indent="0" marL="0">
              <a:buNone/>
            </a:pPr>
            <a:r>
              <a:rPr lang="en-US" sz="2600" b="1" dirty="0">
                <a:solidFill>
                  <a:srgbClr val="1A2148"/>
                </a:solidFill>
                <a:latin typeface="Meiryo" pitchFamily="34" charset="0"/>
                <a:ea typeface="Meiryo" pitchFamily="34" charset="-122"/>
                <a:cs typeface="Meiryo" pitchFamily="34" charset="-120"/>
              </a:rPr>
              <a:t>出典・ご参考</a:t>
            </a:r>
            <a:endParaRPr lang="en-US" sz="2600" dirty="0"/>
          </a:p>
        </p:txBody>
      </p:sp>
      <p:sp>
        <p:nvSpPr>
          <p:cNvPr id="3" name="Shape 1"/>
          <p:cNvSpPr/>
          <p:nvPr/>
        </p:nvSpPr>
        <p:spPr>
          <a:xfrm>
            <a:off x="640080" y="1737360"/>
            <a:ext cx="10911535" cy="2240280"/>
          </a:xfrm>
          <a:prstGeom prst="roundRect">
            <a:avLst>
              <a:gd name="adj" fmla="val 3265"/>
            </a:avLst>
          </a:prstGeom>
          <a:solidFill>
            <a:srgbClr val="F2F4FB"/>
          </a:solidFill>
          <a:ln w="12700">
            <a:solidFill>
              <a:srgbClr val="D9DDEE"/>
            </a:solidFill>
            <a:prstDash val="solid"/>
          </a:ln>
        </p:spPr>
      </p:sp>
      <p:sp>
        <p:nvSpPr>
          <p:cNvPr id="4" name="Text 2"/>
          <p:cNvSpPr txBox="1"/>
          <p:nvPr/>
        </p:nvSpPr>
        <p:spPr>
          <a:xfrm>
            <a:off x="960120" y="1965960"/>
            <a:ext cx="10271455" cy="1828800"/>
          </a:xfrm>
          <a:prstGeom prst="rect">
            <a:avLst/>
          </a:prstGeom>
          <a:noFill/>
          <a:ln/>
        </p:spPr>
        <p:txBody>
          <a:bodyPr wrap="square" lIns="0" tIns="0" rIns="0" bIns="0" rtlCol="0" anchor="t"/>
          <a:lstStyle/>
          <a:p>
            <a:pPr indent="0" marL="0">
              <a:lnSpc>
                <a:spcPts val="2200"/>
              </a:lnSpc>
              <a:buNone/>
            </a:pPr>
            <a:r>
              <a:rPr lang="en-US" sz="1250" dirty="0">
                <a:solidFill>
                  <a:srgbClr val="1A2148"/>
                </a:solidFill>
                <a:latin typeface="Meiryo" pitchFamily="34" charset="0"/>
                <a:ea typeface="Meiryo" pitchFamily="34" charset="-122"/>
                <a:cs typeface="Meiryo" pitchFamily="34" charset="-120"/>
              </a:rPr>
              <a:t>事業内容の整理：株式会社mimococo「支援の空白を埋める 〜復職後の夜間・休日オンラインケア〜」</a:t>
            </a:r>
            <a:endParaRPr lang="en-US" sz="1250" dirty="0"/>
          </a:p>
          <a:p>
            <a:pPr indent="0" marL="0">
              <a:lnSpc>
                <a:spcPts val="2200"/>
              </a:lnSpc>
              <a:buNone/>
            </a:pPr>
            <a:r>
              <a:rPr lang="en-US" sz="1250" dirty="0">
                <a:solidFill>
                  <a:srgbClr val="1A2148"/>
                </a:solidFill>
                <a:latin typeface="Meiryo" pitchFamily="34" charset="0"/>
                <a:ea typeface="Meiryo" pitchFamily="34" charset="-122"/>
                <a:cs typeface="Meiryo" pitchFamily="34" charset="-120"/>
              </a:rPr>
              <a:t>（Vision Hacker Association 2026 エントリーシート記載内容に基づく）</a:t>
            </a:r>
            <a:endParaRPr lang="en-US" sz="1250" dirty="0"/>
          </a:p>
          <a:p>
            <a:pPr indent="0" marL="0">
              <a:lnSpc>
                <a:spcPts val="2200"/>
              </a:lnSpc>
              <a:buNone/>
            </a:pPr>
            <a:endParaRPr lang="en-US" sz="1250" dirty="0"/>
          </a:p>
          <a:p>
            <a:pPr indent="0" marL="0">
              <a:lnSpc>
                <a:spcPts val="2200"/>
              </a:lnSpc>
              <a:buNone/>
            </a:pPr>
            <a:r>
              <a:rPr lang="en-US" sz="1250" dirty="0">
                <a:solidFill>
                  <a:srgbClr val="1A2148"/>
                </a:solidFill>
                <a:latin typeface="Meiryo" pitchFamily="34" charset="0"/>
                <a:ea typeface="Meiryo" pitchFamily="34" charset="-122"/>
                <a:cs typeface="Meiryo" pitchFamily="34" charset="-120"/>
              </a:rPr>
              <a:t>プログラム仕様：ヨルケア「5か月間オンラインプログラム 実施・研究・安全管理に関する確定仕様」（2026年）</a:t>
            </a:r>
            <a:endParaRPr lang="en-US" sz="1250" dirty="0"/>
          </a:p>
          <a:p>
            <a:pPr indent="0" marL="0">
              <a:lnSpc>
                <a:spcPts val="2200"/>
              </a:lnSpc>
              <a:buNone/>
            </a:pPr>
            <a:endParaRPr lang="en-US" sz="1250" dirty="0"/>
          </a:p>
          <a:p>
            <a:pPr indent="0" marL="0">
              <a:lnSpc>
                <a:spcPts val="2200"/>
              </a:lnSpc>
              <a:buNone/>
            </a:pPr>
            <a:r>
              <a:rPr lang="en-US" sz="1250" dirty="0">
                <a:solidFill>
                  <a:srgbClr val="1A2148"/>
                </a:solidFill>
                <a:latin typeface="Meiryo" pitchFamily="34" charset="0"/>
                <a:ea typeface="Meiryo" pitchFamily="34" charset="-122"/>
                <a:cs typeface="Meiryo" pitchFamily="34" charset="-120"/>
              </a:rPr>
              <a:t>事業計画本体：docs/business-plan-return-to-work.md</a:t>
            </a:r>
            <a:endParaRPr lang="en-US" sz="1250" dirty="0"/>
          </a:p>
        </p:txBody>
      </p:sp>
      <p:sp>
        <p:nvSpPr>
          <p:cNvPr id="5" name="Shape 3"/>
          <p:cNvSpPr/>
          <p:nvPr/>
        </p:nvSpPr>
        <p:spPr>
          <a:xfrm>
            <a:off x="640080" y="4160520"/>
            <a:ext cx="10911535" cy="868680"/>
          </a:xfrm>
          <a:prstGeom prst="roundRect">
            <a:avLst>
              <a:gd name="adj" fmla="val 8421"/>
            </a:avLst>
          </a:prstGeom>
          <a:solidFill>
            <a:srgbClr val="EEF0FA"/>
          </a:solidFill>
          <a:ln w="12700">
            <a:solidFill>
              <a:srgbClr val="C9CFEA"/>
            </a:solidFill>
            <a:prstDash val="solid"/>
          </a:ln>
        </p:spPr>
      </p:sp>
      <p:sp>
        <p:nvSpPr>
          <p:cNvPr id="6" name="Text 4"/>
          <p:cNvSpPr txBox="1"/>
          <p:nvPr/>
        </p:nvSpPr>
        <p:spPr>
          <a:xfrm>
            <a:off x="960120" y="4389120"/>
            <a:ext cx="10271455" cy="457200"/>
          </a:xfrm>
          <a:prstGeom prst="rect">
            <a:avLst/>
          </a:prstGeom>
          <a:noFill/>
          <a:ln/>
        </p:spPr>
        <p:txBody>
          <a:bodyPr wrap="square" lIns="0" tIns="0" rIns="0" bIns="0" rtlCol="0" anchor="t"/>
          <a:lstStyle/>
          <a:p>
            <a:pPr indent="0" marL="0">
              <a:lnSpc>
                <a:spcPts val="2200"/>
              </a:lnSpc>
              <a:buNone/>
            </a:pPr>
            <a:r>
              <a:rPr lang="en-US" sz="1250" b="1" dirty="0">
                <a:solidFill>
                  <a:srgbClr val="1A2148"/>
                </a:solidFill>
                <a:latin typeface="Meiryo" pitchFamily="34" charset="0"/>
                <a:ea typeface="Meiryo" pitchFamily="34" charset="-122"/>
                <a:cs typeface="Meiryo" pitchFamily="34" charset="-120"/>
              </a:rPr>
              <a:t>※ ヨルケア／本プログラムは、診断・治療・処方を行うものではありません。</a:t>
            </a:r>
            <a:endParaRPr lang="en-US" sz="1250" dirty="0"/>
          </a:p>
        </p:txBody>
      </p:sp>
      <p:sp>
        <p:nvSpPr>
          <p:cNvPr id="7" name="Text 5"/>
          <p:cNvSpPr txBox="1"/>
          <p:nvPr/>
        </p:nvSpPr>
        <p:spPr>
          <a:xfrm>
            <a:off x="640080" y="5303520"/>
            <a:ext cx="10911535" cy="310896"/>
          </a:xfrm>
          <a:prstGeom prst="rect">
            <a:avLst/>
          </a:prstGeom>
          <a:noFill/>
          <a:ln/>
        </p:spPr>
        <p:txBody>
          <a:bodyPr wrap="square" lIns="0" tIns="0" rIns="0" bIns="0" rtlCol="0" anchor="ctr"/>
          <a:lstStyle/>
          <a:p>
            <a:pPr indent="0" marL="0">
              <a:lnSpc>
                <a:spcPts val="1600"/>
              </a:lnSpc>
              <a:buNone/>
            </a:pPr>
            <a:r>
              <a:rPr lang="en-US" sz="1100" dirty="0">
                <a:solidFill>
                  <a:srgbClr val="5A6382"/>
                </a:solidFill>
                <a:latin typeface="Meiryo" pitchFamily="34" charset="0"/>
                <a:ea typeface="Meiryo" pitchFamily="34" charset="-122"/>
                <a:cs typeface="Meiryo" pitchFamily="34" charset="-120"/>
              </a:rPr>
              <a:t>本資料内の週の帯（3ページ）は、ヒアリングから見えた傾向を図にしたものであり、実測データではありません。</a:t>
            </a:r>
            <a:endParaRPr lang="en-US" sz="1100" dirty="0"/>
          </a:p>
        </p:txBody>
      </p:sp>
      <p:sp>
        <p:nvSpPr>
          <p:cNvPr id="8" name="Text 6"/>
          <p:cNvSpPr txBox="1"/>
          <p:nvPr/>
        </p:nvSpPr>
        <p:spPr>
          <a:xfrm>
            <a:off x="11002975" y="6126480"/>
            <a:ext cx="548640" cy="274320"/>
          </a:xfrm>
          <a:prstGeom prst="rect">
            <a:avLst/>
          </a:prstGeom>
          <a:noFill/>
          <a:ln/>
        </p:spPr>
        <p:txBody>
          <a:bodyPr wrap="square" lIns="0" tIns="0" rIns="0" bIns="0" rtlCol="0" anchor="ctr"/>
          <a:lstStyle/>
          <a:p>
            <a:pPr algn="r" indent="0" marL="0">
              <a:buNone/>
            </a:pPr>
            <a:r>
              <a:rPr lang="en-US" sz="1000" dirty="0">
                <a:solidFill>
                  <a:srgbClr val="5A6382"/>
                </a:solidFill>
                <a:latin typeface="Meiryo" pitchFamily="34" charset="0"/>
                <a:ea typeface="Meiryo" pitchFamily="34" charset="-122"/>
                <a:cs typeface="Meiryo"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ヨルケア事業化プラン ご相談・ご承認のお願い</dc:title>
  <dc:subject>PptxGenJS Presentation</dc:subject>
  <dc:creator>株式会社mimococo</dc:creator>
  <cp:lastModifiedBy>株式会社mimococo</cp:lastModifiedBy>
  <cp:revision>1</cp:revision>
  <dcterms:created xsi:type="dcterms:W3CDTF">2026-09-05T09:38:38Z</dcterms:created>
  <dcterms:modified xsi:type="dcterms:W3CDTF">2026-09-05T09:38:38Z</dcterms:modified>
</cp:coreProperties>
</file>